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57" r:id="rId6"/>
    <p:sldId id="258" r:id="rId7"/>
    <p:sldId id="259" r:id="rId8"/>
    <p:sldId id="260" r:id="rId9"/>
    <p:sldId id="261" r:id="rId10"/>
    <p:sldId id="262" r:id="rId11"/>
    <p:sldId id="263"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675" autoAdjust="0"/>
  </p:normalViewPr>
  <p:slideViewPr>
    <p:cSldViewPr snapToGrid="0" snapToObjects="1">
      <p:cViewPr>
        <p:scale>
          <a:sx n="100" d="100"/>
          <a:sy n="100" d="100"/>
        </p:scale>
        <p:origin x="2574" y="7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8786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Welcome to our presentation on the Campus </a:t>
            </a:r>
            <a:r>
              <a:rPr lang="en-US" err="1"/>
              <a:t>ShuttleBus</a:t>
            </a:r>
            <a:r>
              <a:rPr lang="en-US"/>
              <a:t> Simulation. Today, we are going to walk you through our study on how changing bus dispatch frequency directly impacts student queue lengths and waiting times during morning rush hours. This project was developed using a 10,000-run Monte Carlo simulation in MATLAB.</a:t>
            </a:r>
            <a:endParaRPr lang="en-US">
              <a:ea typeface="游ゴシック"/>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give you an overview of our model: we simulated the morning shuttle bus queue between 7:00 AM and 10:00 AM—a total 3-hour peak window modeled in 1-minute time steps.</a:t>
            </a:r>
          </a:p>
          <a:p>
            <a:r>
              <a:rPr lang="en-US" dirty="0"/>
              <a:t> </a:t>
            </a:r>
            <a:endParaRPr lang="en-US" dirty="0">
              <a:ea typeface="游ゴシック"/>
            </a:endParaRPr>
          </a:p>
          <a:p>
            <a:r>
              <a:rPr lang="en-US"/>
              <a:t>1. Inputs: Students arrive in batches at the campus station according to actual train schedules.</a:t>
            </a:r>
            <a:endParaRPr lang="en-US">
              <a:ea typeface="游ゴシック"/>
            </a:endParaRPr>
          </a:p>
          <a:p>
            <a:r>
              <a:rPr lang="en-US"/>
              <a:t>2. State: Students who choose not to walk enter a First-In, First-Out (FIFO) queue with their exact arrival time recorded.</a:t>
            </a:r>
          </a:p>
          <a:p>
            <a:r>
              <a:rPr lang="en-US"/>
              <a:t>3. Outputs: Shuttle buses arrive with random operational delays and variable seating capacities to pick up waiting passengers.</a:t>
            </a:r>
          </a:p>
          <a:p>
            <a:r>
              <a:rPr lang="en-US"/>
              <a:t>4. Key Parameters: We assume 10% of arriving students choose to walk to campus, bus capacity fluctuates between 70 and 80 passengers, and bus arrival delay ranges randomly from 0 to 5 minutes."</a:t>
            </a:r>
          </a:p>
          <a:p>
            <a:endParaRPr lang="en-US" dirty="0">
              <a:ea typeface="游ゴシック"/>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MATLAB code is designed using a clean, modular three-file architecture where each file handles a single distinct responsibility:</a:t>
            </a:r>
          </a:p>
          <a:p>
            <a:r>
              <a:rPr lang="en-US" dirty="0"/>
              <a:t> </a:t>
            </a:r>
            <a:endParaRPr lang="en-US" dirty="0">
              <a:ea typeface="游ゴシック"/>
            </a:endParaRPr>
          </a:p>
          <a:p>
            <a:r>
              <a:rPr lang="en-US" dirty="0"/>
              <a:t>1. </a:t>
            </a:r>
            <a:r>
              <a:rPr lang="en-US" dirty="0" err="1"/>
              <a:t>main.m</a:t>
            </a:r>
            <a:r>
              <a:rPr lang="en-US" dirty="0"/>
              <a:t> serves as the experiment controller. It sets timetables and parameters, executes all 10,000 Monte Carlo runs, and computes aggregated metrics like means and standard deviations.</a:t>
            </a:r>
            <a:endParaRPr lang="en-US" dirty="0">
              <a:ea typeface="游ゴシック"/>
            </a:endParaRPr>
          </a:p>
          <a:p>
            <a:r>
              <a:rPr lang="en-US" dirty="0"/>
              <a:t>2. </a:t>
            </a:r>
            <a:r>
              <a:rPr lang="en-US" dirty="0" err="1"/>
              <a:t>run_single_simulation.m</a:t>
            </a:r>
            <a:r>
              <a:rPr lang="en-US" dirty="0"/>
              <a:t> is the core simulation engine. It generates randomized bus capacities and traffic delays, processes event logs minute by minute, and tracks individual student waiting times.</a:t>
            </a:r>
            <a:endParaRPr lang="en-US" dirty="0">
              <a:ea typeface="游ゴシック"/>
            </a:endParaRPr>
          </a:p>
          <a:p>
            <a:r>
              <a:rPr lang="en-US" dirty="0"/>
              <a:t>3. </a:t>
            </a:r>
            <a:r>
              <a:rPr lang="en-US" dirty="0" err="1"/>
              <a:t>plot_simulation_results.m</a:t>
            </a:r>
            <a:r>
              <a:rPr lang="en-US" dirty="0"/>
              <a:t> is responsible purely for visualization, receiving the averaged queue history from </a:t>
            </a:r>
            <a:r>
              <a:rPr lang="en-US" dirty="0" err="1"/>
              <a:t>main.m</a:t>
            </a:r>
            <a:r>
              <a:rPr lang="en-US" dirty="0"/>
              <a:t> and producing our clear diagnostic plots.</a:t>
            </a:r>
            <a:endParaRPr lang="en-US" dirty="0">
              <a:ea typeface="游ゴシック"/>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look at how the queue dynamics are reproduced at an individual student level:</a:t>
            </a:r>
          </a:p>
          <a:p>
            <a:r>
              <a:rPr lang="en-US" dirty="0"/>
              <a:t> </a:t>
            </a:r>
            <a:endParaRPr lang="en-US" dirty="0">
              <a:ea typeface="游ゴシック"/>
            </a:endParaRPr>
          </a:p>
          <a:p>
            <a:r>
              <a:rPr lang="en-US"/>
              <a:t>1. When a train arrives, student group size is sampled from a normal distribution.</a:t>
            </a:r>
            <a:endParaRPr lang="en-US">
              <a:ea typeface="游ゴシック" panose="02110004020202020204"/>
            </a:endParaRPr>
          </a:p>
          <a:p>
            <a:r>
              <a:rPr lang="en-US"/>
              <a:t>2. Each student independently decides whether to walk with a 10% probability.</a:t>
            </a:r>
          </a:p>
          <a:p>
            <a:r>
              <a:rPr lang="en-US"/>
              <a:t>3. Non-walking students join a FIFO queue where their arrival slot is logged.</a:t>
            </a:r>
          </a:p>
          <a:p>
            <a:r>
              <a:rPr lang="en-US"/>
              <a:t>4. When a bus arrives, its available capacity and arrival delay are randomly determined for that specific run.</a:t>
            </a:r>
          </a:p>
          <a:p>
            <a:r>
              <a:rPr lang="en-US"/>
              <a:t>5. Passengers board on a strict First-In, First-Out basis. A student’s individual wait time is calculated simply as the boarding bus slot minus their initial queue arrival slot.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did we simulate the same morning 10,000 times?</a:t>
            </a:r>
          </a:p>
          <a:p>
            <a:r>
              <a:rPr lang="en-US" dirty="0"/>
              <a:t> </a:t>
            </a:r>
            <a:endParaRPr lang="en-US" dirty="0">
              <a:ea typeface="游ゴシック"/>
            </a:endParaRPr>
          </a:p>
          <a:p>
            <a:r>
              <a:rPr lang="en-US"/>
              <a:t>A single simulation run can be overly optimistic or pessimistic due to random variance—such as a sudden burst of train arrivals or consecutive bus delays. By running 10,000 repetitions, extreme outliers cancel out, revealing the true expected behavior of the system.</a:t>
            </a:r>
          </a:p>
          <a:p>
            <a:r>
              <a:rPr lang="en-US" dirty="0"/>
              <a:t>Furthermore, by executing </a:t>
            </a:r>
            <a:r>
              <a:rPr lang="en-US" dirty="0" err="1"/>
              <a:t>rng</a:t>
            </a:r>
            <a:r>
              <a:rPr lang="en-US" dirty="0"/>
              <a:t>(1) at the beginning, we lock the pseudo-random number generator sequence. This guarantees that all comparisons between different bus frequencies are strictly controlled and reproducible.</a:t>
            </a:r>
            <a:endParaRPr lang="en-US" dirty="0">
              <a:ea typeface="游ゴシック"/>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our baseline results when dispatching buses every 6 minutes:</a:t>
            </a:r>
          </a:p>
          <a:p>
            <a:r>
              <a:rPr lang="en-US" dirty="0"/>
              <a:t> </a:t>
            </a:r>
            <a:endParaRPr lang="en-US" dirty="0">
              <a:ea typeface="游ゴシック"/>
            </a:endParaRPr>
          </a:p>
          <a:p>
            <a:r>
              <a:rPr lang="en-US"/>
              <a:t>Over 10,000 runs, an average of 1,478 students were transported. However, a significant queue of nearly 148 students remained waiting at 10:00 AM, meaning the system failed to clear morning demand.</a:t>
            </a:r>
          </a:p>
          <a:p>
            <a:r>
              <a:rPr lang="en-US" dirty="0"/>
              <a:t> </a:t>
            </a:r>
            <a:endParaRPr lang="en-US" dirty="0">
              <a:ea typeface="游ゴシック"/>
            </a:endParaRPr>
          </a:p>
          <a:p>
            <a:r>
              <a:rPr lang="en-US"/>
              <a:t>The average student wait time was 11.42 minutes, with maximum wait times reaching 22.79 minutes, and peak queue length hitting 270 students. This proves that a 6-minute interval provides insufficient capacity for morning peak demand.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we conducted a sensitivity analysis comparing 4-minute, 5-minute, and 6-minute bus dispatch headways:</a:t>
            </a:r>
          </a:p>
          <a:p>
            <a:r>
              <a:rPr lang="en-US" dirty="0"/>
              <a:t> </a:t>
            </a:r>
            <a:endParaRPr lang="en-US" dirty="0">
              <a:ea typeface="游ゴシック"/>
            </a:endParaRPr>
          </a:p>
          <a:p>
            <a:r>
              <a:rPr lang="en-US"/>
              <a:t>1. Transported Students: Increased from 1,478 (at 6 min) to 1,536 (at 4 min).</a:t>
            </a:r>
            <a:endParaRPr lang="en-US">
              <a:ea typeface="游ゴシック" panose="02110004020202020204"/>
            </a:endParaRPr>
          </a:p>
          <a:p>
            <a:r>
              <a:rPr lang="en-US"/>
              <a:t>2. Remaining Queue at 10:00: Decreased significantly from 147.6 down to 88.4.</a:t>
            </a:r>
          </a:p>
          <a:p>
            <a:r>
              <a:rPr lang="en-US"/>
              <a:t>3. Average Wait Time: Dropped dramatically from 11.42 minutes to 5.47 minutes—a 52% reduction!</a:t>
            </a:r>
          </a:p>
          <a:p>
            <a:r>
              <a:rPr lang="en-US"/>
              <a:t>4. Peak Queue Length: Cut down from 270.5 to 200.7 students—a 26% reduction.</a:t>
            </a:r>
          </a:p>
          <a:p>
            <a:r>
              <a:rPr lang="en-US" dirty="0"/>
              <a:t> </a:t>
            </a:r>
            <a:endParaRPr lang="en-US" dirty="0">
              <a:ea typeface="游ゴシック"/>
            </a:endParaRPr>
          </a:p>
          <a:p>
            <a:r>
              <a:rPr lang="en-US"/>
              <a:t>This clearly illustrates that small changes in dispatch frequency yield major operational improvements.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a:t>
            </a:r>
          </a:p>
          <a:p>
            <a:r>
              <a:rPr lang="en-US" dirty="0"/>
              <a:t> </a:t>
            </a:r>
            <a:endParaRPr lang="en-US" dirty="0">
              <a:ea typeface="游ゴシック"/>
            </a:endParaRPr>
          </a:p>
          <a:p>
            <a:pPr marL="0" indent="0">
              <a:buNone/>
            </a:pPr>
            <a:r>
              <a:rPr lang="en-US"/>
              <a:t>1. </a:t>
            </a:r>
            <a:r>
              <a:rPr lang="en-US" dirty="0"/>
              <a:t>Our Monte Carlo simulation successfully modeled complex campus queue dynamics under real-world operational uncertainty.</a:t>
            </a:r>
            <a:endParaRPr lang="en-US" dirty="0">
              <a:ea typeface="游ゴシック" panose="02110004020202020204"/>
            </a:endParaRPr>
          </a:p>
          <a:p>
            <a:r>
              <a:rPr lang="en-US" dirty="0"/>
              <a:t>2. Dispatch frequency is the single most critical factor in controlling queue buildup and passenger frustration.</a:t>
            </a:r>
          </a:p>
          <a:p>
            <a:r>
              <a:rPr lang="en-US" dirty="0"/>
              <a:t>3. Our Recommendation: Operating the campus shuttle at a 4-minute dispatch interval during morning rush hours provides the best performance, transporting more students, clearing queues faster, and cutting average wait times in half.</a:t>
            </a:r>
          </a:p>
          <a:p>
            <a:r>
              <a:rPr lang="en-US" dirty="0"/>
              <a:t> </a:t>
            </a:r>
            <a:endParaRPr lang="en-US" dirty="0">
              <a:ea typeface="游ゴシック"/>
            </a:endParaRPr>
          </a:p>
          <a:p>
            <a:r>
              <a:rPr lang="en-US" dirty="0"/>
              <a:t>Thank you very much for your attention! We are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367A7"/>
          </a:solidFill>
          <a:ln w="12700">
            <a:solidFill>
              <a:srgbClr val="2367A7"/>
            </a:solidFill>
            <a:prstDash val="solid"/>
          </a:ln>
        </p:spPr>
        <p:txBody>
          <a:bodyPr/>
          <a:lstStyle/>
          <a:p>
            <a:endParaRPr lang="ja-JP" altLang="en-US"/>
          </a:p>
        </p:txBody>
      </p:sp>
      <p:sp>
        <p:nvSpPr>
          <p:cNvPr id="3" name="Text 1"/>
          <p:cNvSpPr/>
          <p:nvPr/>
        </p:nvSpPr>
        <p:spPr>
          <a:xfrm>
            <a:off x="411480" y="6473952"/>
            <a:ext cx="5029200" cy="182880"/>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Campus Shuttle Bus Simulation</a:t>
            </a:r>
            <a:endParaRPr lang="en-US" sz="900" dirty="0"/>
          </a:p>
        </p:txBody>
      </p:sp>
      <p:sp>
        <p:nvSpPr>
          <p:cNvPr id="4" name="Text 2"/>
          <p:cNvSpPr/>
          <p:nvPr/>
        </p:nvSpPr>
        <p:spPr>
          <a:xfrm>
            <a:off x="7315200" y="6473952"/>
            <a:ext cx="4434840" cy="182880"/>
          </a:xfrm>
          <a:prstGeom prst="rect">
            <a:avLst/>
          </a:prstGeom>
          <a:noFill/>
          <a:ln/>
        </p:spPr>
        <p:txBody>
          <a:bodyPr wrap="square" lIns="0" tIns="0" rIns="0" bIns="0" rtlCol="0" anchor="ctr"/>
          <a:lstStyle/>
          <a:p>
            <a:pPr marL="0" indent="0" algn="r">
              <a:buNone/>
            </a:pPr>
            <a:r>
              <a:rPr lang="en-US" sz="900" dirty="0">
                <a:solidFill>
                  <a:srgbClr val="6B7280"/>
                </a:solidFill>
                <a:latin typeface="Aptos" pitchFamily="34" charset="0"/>
                <a:ea typeface="Aptos" pitchFamily="34" charset="-122"/>
                <a:cs typeface="Aptos" pitchFamily="34" charset="-120"/>
              </a:rPr>
              <a:t>Queueing Theory • Monte Carlo Simulation</a:t>
            </a:r>
            <a:endParaRPr lang="en-US" sz="900" dirty="0"/>
          </a:p>
        </p:txBody>
      </p:sp>
      <p:sp>
        <p:nvSpPr>
          <p:cNvPr id="25"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solidFill>
            <a:prstDash val="solid"/>
          </a:ln>
        </p:spPr>
        <p:txBody>
          <a:bodyPr/>
          <a:lstStyle/>
          <a:p>
            <a:endParaRPr lang="ja-JP" altLang="en-US"/>
          </a:p>
        </p:txBody>
      </p:sp>
      <p:sp>
        <p:nvSpPr>
          <p:cNvPr id="3" name="Shape 1"/>
          <p:cNvSpPr/>
          <p:nvPr/>
        </p:nvSpPr>
        <p:spPr>
          <a:xfrm>
            <a:off x="0" y="0"/>
            <a:ext cx="4069080" cy="6858000"/>
          </a:xfrm>
          <a:prstGeom prst="rect">
            <a:avLst/>
          </a:prstGeom>
          <a:solidFill>
            <a:srgbClr val="2367A7"/>
          </a:solidFill>
          <a:ln w="12700">
            <a:solidFill>
              <a:srgbClr val="2367A7"/>
            </a:solidFill>
            <a:prstDash val="solid"/>
          </a:ln>
        </p:spPr>
        <p:txBody>
          <a:bodyPr/>
          <a:lstStyle/>
          <a:p>
            <a:endParaRPr lang="ja-JP" altLang="en-US"/>
          </a:p>
        </p:txBody>
      </p:sp>
      <p:sp>
        <p:nvSpPr>
          <p:cNvPr id="4" name="Text 2"/>
          <p:cNvSpPr/>
          <p:nvPr/>
        </p:nvSpPr>
        <p:spPr>
          <a:xfrm>
            <a:off x="594360" y="1133856"/>
            <a:ext cx="2926080" cy="1463040"/>
          </a:xfrm>
          <a:prstGeom prst="rect">
            <a:avLst/>
          </a:prstGeom>
          <a:noFill/>
          <a:ln/>
        </p:spPr>
        <p:txBody>
          <a:bodyPr wrap="square" lIns="254" tIns="254" rIns="254" bIns="254" rtlCol="0" anchor="ctr">
            <a:normAutofit/>
          </a:bodyP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Campus Shuttle</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Bus Simulation</a:t>
            </a:r>
            <a:endParaRPr lang="en-US" sz="2700" dirty="0"/>
          </a:p>
        </p:txBody>
      </p:sp>
      <p:sp>
        <p:nvSpPr>
          <p:cNvPr id="5" name="Text 3"/>
          <p:cNvSpPr/>
          <p:nvPr/>
        </p:nvSpPr>
        <p:spPr>
          <a:xfrm>
            <a:off x="621792" y="2761488"/>
            <a:ext cx="2743200" cy="731520"/>
          </a:xfrm>
          <a:prstGeom prst="rect">
            <a:avLst/>
          </a:prstGeom>
          <a:noFill/>
          <a:ln/>
        </p:spPr>
        <p:txBody>
          <a:bodyPr wrap="square" lIns="0" tIns="0" rIns="0" bIns="0" rtlCol="0" anchor="ctr"/>
          <a:lstStyle/>
          <a:p>
            <a:pPr marL="0" indent="0">
              <a:buNone/>
            </a:pPr>
            <a:r>
              <a:rPr lang="en-US" sz="1500" dirty="0">
                <a:solidFill>
                  <a:srgbClr val="DDEAF5"/>
                </a:solidFill>
              </a:rPr>
              <a:t>How bus frequency changes</a:t>
            </a:r>
            <a:endParaRPr lang="en-US" sz="1500" dirty="0"/>
          </a:p>
          <a:p>
            <a:pPr marL="0" indent="0">
              <a:buNone/>
            </a:pPr>
            <a:r>
              <a:rPr lang="en-US" sz="1500" dirty="0">
                <a:solidFill>
                  <a:srgbClr val="DDEAF5"/>
                </a:solidFill>
              </a:rPr>
              <a:t>queue length and waiting time</a:t>
            </a:r>
            <a:endParaRPr lang="en-US" sz="1500" dirty="0"/>
          </a:p>
        </p:txBody>
      </p:sp>
      <p:sp>
        <p:nvSpPr>
          <p:cNvPr id="6" name="Text 4"/>
          <p:cNvSpPr/>
          <p:nvPr/>
        </p:nvSpPr>
        <p:spPr>
          <a:xfrm>
            <a:off x="621792" y="5285232"/>
            <a:ext cx="2880360" cy="292608"/>
          </a:xfrm>
          <a:prstGeom prst="rect">
            <a:avLst/>
          </a:prstGeom>
          <a:noFill/>
          <a:ln/>
        </p:spPr>
        <p:txBody>
          <a:bodyPr wrap="square" lIns="0" tIns="0" rIns="0" bIns="0" rtlCol="0" anchor="ctr"/>
          <a:lstStyle/>
          <a:p>
            <a:pPr marL="0" indent="0">
              <a:buNone/>
            </a:pPr>
            <a:r>
              <a:rPr lang="en-US" sz="1150" b="1" dirty="0">
                <a:solidFill>
                  <a:srgbClr val="FFFFFF"/>
                </a:solidFill>
              </a:rPr>
              <a:t>Monte Carlo simulation • 10,000 runs</a:t>
            </a:r>
            <a:endParaRPr lang="en-US" sz="1150" dirty="0"/>
          </a:p>
        </p:txBody>
      </p:sp>
      <p:sp>
        <p:nvSpPr>
          <p:cNvPr id="7" name="Shape 5"/>
          <p:cNvSpPr/>
          <p:nvPr/>
        </p:nvSpPr>
        <p:spPr>
          <a:xfrm>
            <a:off x="4709160" y="960120"/>
            <a:ext cx="6492240" cy="4526280"/>
          </a:xfrm>
          <a:prstGeom prst="roundRect">
            <a:avLst/>
          </a:prstGeom>
          <a:solidFill>
            <a:srgbClr val="FFFFFF"/>
          </a:solidFill>
          <a:ln w="12700">
            <a:solidFill>
              <a:srgbClr val="D9E4ED"/>
            </a:solidFill>
            <a:prstDash val="solid"/>
          </a:ln>
          <a:effectLst>
            <a:outerShdw blurRad="25400" dist="50800" dir="2700000" algn="bl" rotWithShape="0">
              <a:srgbClr val="D9E1E8">
                <a:alpha val="22000"/>
              </a:srgbClr>
            </a:outerShdw>
          </a:effectLst>
        </p:spPr>
        <p:txBody>
          <a:bodyPr/>
          <a:lstStyle/>
          <a:p>
            <a:endParaRPr lang="ja-JP" altLang="en-US"/>
          </a:p>
        </p:txBody>
      </p:sp>
      <p:sp>
        <p:nvSpPr>
          <p:cNvPr id="8" name="Text 6"/>
          <p:cNvSpPr/>
          <p:nvPr/>
        </p:nvSpPr>
        <p:spPr>
          <a:xfrm>
            <a:off x="5166360" y="1389888"/>
            <a:ext cx="2377440" cy="320040"/>
          </a:xfrm>
          <a:prstGeom prst="rect">
            <a:avLst/>
          </a:prstGeom>
          <a:noFill/>
          <a:ln/>
        </p:spPr>
        <p:txBody>
          <a:bodyPr wrap="square" lIns="0" tIns="0" rIns="0" bIns="0" rtlCol="0" anchor="ctr"/>
          <a:lstStyle/>
          <a:p>
            <a:pPr marL="0" indent="0">
              <a:buNone/>
            </a:pPr>
            <a:r>
              <a:rPr lang="en-US" sz="1600" b="1" dirty="0">
                <a:solidFill>
                  <a:srgbClr val="17324D"/>
                </a:solidFill>
              </a:rPr>
              <a:t>Simulation focus</a:t>
            </a:r>
            <a:endParaRPr lang="en-US" sz="1600" dirty="0"/>
          </a:p>
        </p:txBody>
      </p:sp>
      <p:sp>
        <p:nvSpPr>
          <p:cNvPr id="9" name="Shape 7"/>
          <p:cNvSpPr/>
          <p:nvPr/>
        </p:nvSpPr>
        <p:spPr>
          <a:xfrm>
            <a:off x="5193792" y="2057400"/>
            <a:ext cx="438912" cy="438912"/>
          </a:xfrm>
          <a:prstGeom prst="ellipse">
            <a:avLst/>
          </a:prstGeom>
          <a:solidFill>
            <a:srgbClr val="EAF2F8"/>
          </a:solidFill>
          <a:ln w="12700">
            <a:solidFill>
              <a:srgbClr val="EAF2F8"/>
            </a:solidFill>
            <a:prstDash val="solid"/>
          </a:ln>
        </p:spPr>
        <p:txBody>
          <a:bodyPr/>
          <a:lstStyle/>
          <a:p>
            <a:endParaRPr lang="ja-JP" altLang="en-US"/>
          </a:p>
        </p:txBody>
      </p:sp>
      <p:sp>
        <p:nvSpPr>
          <p:cNvPr id="10" name="Text 8"/>
          <p:cNvSpPr/>
          <p:nvPr/>
        </p:nvSpPr>
        <p:spPr>
          <a:xfrm>
            <a:off x="5193792" y="2167128"/>
            <a:ext cx="438912" cy="164592"/>
          </a:xfrm>
          <a:prstGeom prst="rect">
            <a:avLst/>
          </a:prstGeom>
          <a:noFill/>
          <a:ln/>
        </p:spPr>
        <p:txBody>
          <a:bodyPr wrap="square" lIns="0" tIns="0" rIns="0" bIns="0" rtlCol="0" anchor="ctr"/>
          <a:lstStyle/>
          <a:p>
            <a:pPr marL="0" indent="0" algn="ctr">
              <a:buNone/>
            </a:pPr>
            <a:r>
              <a:rPr lang="en-US" sz="1000" b="1" dirty="0">
                <a:solidFill>
                  <a:srgbClr val="2367A7"/>
                </a:solidFill>
              </a:rPr>
              <a:t>01</a:t>
            </a:r>
            <a:endParaRPr lang="en-US" sz="1000" dirty="0"/>
          </a:p>
        </p:txBody>
      </p:sp>
      <p:sp>
        <p:nvSpPr>
          <p:cNvPr id="11" name="Text 9"/>
          <p:cNvSpPr/>
          <p:nvPr/>
        </p:nvSpPr>
        <p:spPr>
          <a:xfrm>
            <a:off x="5833872" y="2093976"/>
            <a:ext cx="4754880" cy="329184"/>
          </a:xfrm>
          <a:prstGeom prst="rect">
            <a:avLst/>
          </a:prstGeom>
          <a:noFill/>
          <a:ln/>
        </p:spPr>
        <p:txBody>
          <a:bodyPr wrap="square" lIns="0" tIns="0" rIns="0" bIns="0" rtlCol="0" anchor="ctr"/>
          <a:lstStyle/>
          <a:p>
            <a:pPr marL="0" indent="0">
              <a:buNone/>
            </a:pPr>
            <a:r>
              <a:rPr lang="en-US" sz="1600" dirty="0">
                <a:solidFill>
                  <a:srgbClr val="263238"/>
                </a:solidFill>
              </a:rPr>
              <a:t>Reproduce the morning bus queue</a:t>
            </a:r>
            <a:endParaRPr lang="en-US" sz="1600" dirty="0"/>
          </a:p>
        </p:txBody>
      </p:sp>
      <p:sp>
        <p:nvSpPr>
          <p:cNvPr id="12" name="Shape 10"/>
          <p:cNvSpPr/>
          <p:nvPr/>
        </p:nvSpPr>
        <p:spPr>
          <a:xfrm>
            <a:off x="5193792" y="3017520"/>
            <a:ext cx="438912" cy="438912"/>
          </a:xfrm>
          <a:prstGeom prst="ellipse">
            <a:avLst/>
          </a:prstGeom>
          <a:solidFill>
            <a:srgbClr val="EAF2F8"/>
          </a:solidFill>
          <a:ln w="12700">
            <a:solidFill>
              <a:srgbClr val="EAF2F8"/>
            </a:solidFill>
            <a:prstDash val="solid"/>
          </a:ln>
        </p:spPr>
        <p:txBody>
          <a:bodyPr/>
          <a:lstStyle/>
          <a:p>
            <a:endParaRPr lang="ja-JP" altLang="en-US"/>
          </a:p>
        </p:txBody>
      </p:sp>
      <p:sp>
        <p:nvSpPr>
          <p:cNvPr id="13" name="Text 11"/>
          <p:cNvSpPr/>
          <p:nvPr/>
        </p:nvSpPr>
        <p:spPr>
          <a:xfrm>
            <a:off x="5193792" y="3127248"/>
            <a:ext cx="438912" cy="164592"/>
          </a:xfrm>
          <a:prstGeom prst="rect">
            <a:avLst/>
          </a:prstGeom>
          <a:noFill/>
          <a:ln/>
        </p:spPr>
        <p:txBody>
          <a:bodyPr wrap="square" lIns="0" tIns="0" rIns="0" bIns="0" rtlCol="0" anchor="ctr"/>
          <a:lstStyle/>
          <a:p>
            <a:pPr marL="0" indent="0" algn="ctr">
              <a:buNone/>
            </a:pPr>
            <a:r>
              <a:rPr lang="en-US" sz="1000" b="1" dirty="0">
                <a:solidFill>
                  <a:srgbClr val="2367A7"/>
                </a:solidFill>
              </a:rPr>
              <a:t>02</a:t>
            </a:r>
            <a:endParaRPr lang="en-US" sz="1000" dirty="0"/>
          </a:p>
        </p:txBody>
      </p:sp>
      <p:sp>
        <p:nvSpPr>
          <p:cNvPr id="14" name="Text 12"/>
          <p:cNvSpPr/>
          <p:nvPr/>
        </p:nvSpPr>
        <p:spPr>
          <a:xfrm>
            <a:off x="5833872" y="3054096"/>
            <a:ext cx="4754880" cy="329184"/>
          </a:xfrm>
          <a:prstGeom prst="rect">
            <a:avLst/>
          </a:prstGeom>
          <a:noFill/>
          <a:ln/>
        </p:spPr>
        <p:txBody>
          <a:bodyPr wrap="square" lIns="0" tIns="0" rIns="0" bIns="0" rtlCol="0" anchor="ctr"/>
          <a:lstStyle/>
          <a:p>
            <a:pPr marL="0" indent="0">
              <a:buNone/>
            </a:pPr>
            <a:r>
              <a:rPr lang="en-US" sz="1600" dirty="0">
                <a:solidFill>
                  <a:srgbClr val="263238"/>
                </a:solidFill>
              </a:rPr>
              <a:t>Model uncertainty in arrivals and operations</a:t>
            </a:r>
            <a:endParaRPr lang="en-US" sz="1600" dirty="0"/>
          </a:p>
        </p:txBody>
      </p:sp>
      <p:sp>
        <p:nvSpPr>
          <p:cNvPr id="15" name="Shape 13"/>
          <p:cNvSpPr/>
          <p:nvPr/>
        </p:nvSpPr>
        <p:spPr>
          <a:xfrm>
            <a:off x="5193792" y="3977640"/>
            <a:ext cx="438912" cy="438912"/>
          </a:xfrm>
          <a:prstGeom prst="ellipse">
            <a:avLst/>
          </a:prstGeom>
          <a:solidFill>
            <a:srgbClr val="EAF2F8"/>
          </a:solidFill>
          <a:ln w="12700">
            <a:solidFill>
              <a:srgbClr val="EAF2F8"/>
            </a:solidFill>
            <a:prstDash val="solid"/>
          </a:ln>
        </p:spPr>
        <p:txBody>
          <a:bodyPr/>
          <a:lstStyle/>
          <a:p>
            <a:endParaRPr lang="ja-JP" altLang="en-US"/>
          </a:p>
        </p:txBody>
      </p:sp>
      <p:sp>
        <p:nvSpPr>
          <p:cNvPr id="16" name="Text 14"/>
          <p:cNvSpPr/>
          <p:nvPr/>
        </p:nvSpPr>
        <p:spPr>
          <a:xfrm>
            <a:off x="5193792" y="4087368"/>
            <a:ext cx="438912" cy="164592"/>
          </a:xfrm>
          <a:prstGeom prst="rect">
            <a:avLst/>
          </a:prstGeom>
          <a:noFill/>
          <a:ln/>
        </p:spPr>
        <p:txBody>
          <a:bodyPr wrap="square" lIns="0" tIns="0" rIns="0" bIns="0" rtlCol="0" anchor="ctr"/>
          <a:lstStyle/>
          <a:p>
            <a:pPr marL="0" indent="0" algn="ctr">
              <a:buNone/>
            </a:pPr>
            <a:r>
              <a:rPr lang="en-US" sz="1000" b="1" dirty="0">
                <a:solidFill>
                  <a:srgbClr val="2367A7"/>
                </a:solidFill>
              </a:rPr>
              <a:t>03</a:t>
            </a:r>
            <a:endParaRPr lang="en-US" sz="1000" dirty="0"/>
          </a:p>
        </p:txBody>
      </p:sp>
      <p:sp>
        <p:nvSpPr>
          <p:cNvPr id="17" name="Text 15"/>
          <p:cNvSpPr/>
          <p:nvPr/>
        </p:nvSpPr>
        <p:spPr>
          <a:xfrm>
            <a:off x="5833872" y="4014216"/>
            <a:ext cx="4754880" cy="329184"/>
          </a:xfrm>
          <a:prstGeom prst="rect">
            <a:avLst/>
          </a:prstGeom>
          <a:noFill/>
          <a:ln/>
        </p:spPr>
        <p:txBody>
          <a:bodyPr wrap="square" lIns="0" tIns="0" rIns="0" bIns="0" rtlCol="0" anchor="ctr"/>
          <a:lstStyle/>
          <a:p>
            <a:pPr marL="0" indent="0">
              <a:buNone/>
            </a:pPr>
            <a:r>
              <a:rPr lang="en-US" sz="1600" dirty="0">
                <a:solidFill>
                  <a:srgbClr val="263238"/>
                </a:solidFill>
              </a:rPr>
              <a:t>Compare bus_interval = 4, 5, and 6 min</a:t>
            </a:r>
            <a:endParaRPr lang="en-US" sz="1600" dirty="0"/>
          </a:p>
        </p:txBody>
      </p:sp>
      <p:sp>
        <p:nvSpPr>
          <p:cNvPr id="18" name="Text 16"/>
          <p:cNvSpPr/>
          <p:nvPr/>
        </p:nvSpPr>
        <p:spPr>
          <a:xfrm>
            <a:off x="5166360" y="4800600"/>
            <a:ext cx="5440680" cy="411480"/>
          </a:xfrm>
          <a:prstGeom prst="rect">
            <a:avLst/>
          </a:prstGeom>
          <a:noFill/>
          <a:ln/>
        </p:spPr>
        <p:txBody>
          <a:bodyPr wrap="square" lIns="0" tIns="0" rIns="0" bIns="0" rtlCol="0" anchor="ctr"/>
          <a:lstStyle/>
          <a:p>
            <a:pPr marL="0" indent="0">
              <a:buNone/>
            </a:pPr>
            <a:r>
              <a:rPr lang="en-US" sz="1050" dirty="0">
                <a:solidFill>
                  <a:srgbClr val="6B7280"/>
                </a:solidFill>
              </a:rPr>
              <a:t>MATLAB implementation: main.m / run_single_simulation.m / plot_simulation_results.m</a:t>
            </a:r>
            <a:endParaRPr lang="en-US" sz="1050" dirty="0"/>
          </a:p>
        </p:txBody>
      </p:sp>
      <p:sp>
        <p:nvSpPr>
          <p:cNvPr id="25"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47472"/>
            <a:ext cx="11155680" cy="438912"/>
          </a:xfrm>
          <a:prstGeom prst="rect">
            <a:avLst/>
          </a:prstGeom>
          <a:noFill/>
          <a:ln/>
        </p:spPr>
        <p:txBody>
          <a:bodyPr wrap="square" lIns="0" tIns="0" rIns="0" bIns="0" rtlCol="0" anchor="ctr"/>
          <a:lstStyle/>
          <a:p>
            <a:pPr marL="0" indent="0">
              <a:buNone/>
            </a:pPr>
            <a:r>
              <a:rPr lang="en-US" sz="2500" b="1" dirty="0">
                <a:solidFill>
                  <a:srgbClr val="17324D"/>
                </a:solidFill>
                <a:latin typeface="Aptos Display" pitchFamily="34" charset="0"/>
                <a:ea typeface="Aptos Display" pitchFamily="34" charset="-122"/>
                <a:cs typeface="Aptos Display" pitchFamily="34" charset="-120"/>
              </a:rPr>
              <a:t>1. Simulation Overview</a:t>
            </a:r>
            <a:endParaRPr lang="en-US" sz="2500" dirty="0"/>
          </a:p>
        </p:txBody>
      </p:sp>
      <p:sp>
        <p:nvSpPr>
          <p:cNvPr id="3" name="Text 1"/>
          <p:cNvSpPr/>
          <p:nvPr/>
        </p:nvSpPr>
        <p:spPr>
          <a:xfrm>
            <a:off x="530352" y="841248"/>
            <a:ext cx="10881360" cy="237744"/>
          </a:xfrm>
          <a:prstGeom prst="rect">
            <a:avLst/>
          </a:prstGeom>
          <a:noFill/>
          <a:ln/>
        </p:spPr>
        <p:txBody>
          <a:bodyPr wrap="square" lIns="0" tIns="0" rIns="0" bIns="0" rtlCol="0" anchor="ctr"/>
          <a:lstStyle/>
          <a:p>
            <a:pPr marL="0" indent="0">
              <a:buNone/>
            </a:pPr>
            <a:r>
              <a:rPr lang="en-US" sz="1150" dirty="0">
                <a:solidFill>
                  <a:srgbClr val="6B7280"/>
                </a:solidFill>
              </a:rPr>
              <a:t>Morning shuttle queue from 7:00 to 10:00</a:t>
            </a:r>
            <a:endParaRPr lang="en-US" sz="1150" dirty="0"/>
          </a:p>
        </p:txBody>
      </p:sp>
      <p:sp>
        <p:nvSpPr>
          <p:cNvPr id="4" name="Shape 2"/>
          <p:cNvSpPr/>
          <p:nvPr/>
        </p:nvSpPr>
        <p:spPr>
          <a:xfrm>
            <a:off x="594360" y="1417320"/>
            <a:ext cx="3063240" cy="2057400"/>
          </a:xfrm>
          <a:prstGeom prst="roundRect">
            <a:avLst/>
          </a:prstGeom>
          <a:solidFill>
            <a:srgbClr val="FFFFFF"/>
          </a:solidFill>
          <a:ln w="12700">
            <a:solidFill>
              <a:srgbClr val="D6E2EC"/>
            </a:solidFill>
            <a:prstDash val="solid"/>
          </a:ln>
        </p:spPr>
        <p:txBody>
          <a:bodyPr/>
          <a:lstStyle/>
          <a:p>
            <a:endParaRPr lang="ja-JP" altLang="en-US"/>
          </a:p>
        </p:txBody>
      </p:sp>
      <p:sp>
        <p:nvSpPr>
          <p:cNvPr id="5" name="Shape 3"/>
          <p:cNvSpPr/>
          <p:nvPr/>
        </p:nvSpPr>
        <p:spPr>
          <a:xfrm>
            <a:off x="822960" y="1645920"/>
            <a:ext cx="777240" cy="320040"/>
          </a:xfrm>
          <a:prstGeom prst="roundRect">
            <a:avLst>
              <a:gd name="adj" fmla="val 22857"/>
            </a:avLst>
          </a:prstGeom>
          <a:solidFill>
            <a:srgbClr val="2E8B57"/>
          </a:solidFill>
          <a:ln w="12700">
            <a:solidFill>
              <a:srgbClr val="2E8B57"/>
            </a:solidFill>
            <a:prstDash val="solid"/>
          </a:ln>
        </p:spPr>
        <p:txBody>
          <a:bodyPr/>
          <a:lstStyle/>
          <a:p>
            <a:endParaRPr lang="ja-JP" altLang="en-US"/>
          </a:p>
        </p:txBody>
      </p:sp>
      <p:sp>
        <p:nvSpPr>
          <p:cNvPr id="6" name="Text 4"/>
          <p:cNvSpPr/>
          <p:nvPr/>
        </p:nvSpPr>
        <p:spPr>
          <a:xfrm>
            <a:off x="877824" y="1705356"/>
            <a:ext cx="667512" cy="164592"/>
          </a:xfrm>
          <a:prstGeom prst="rect">
            <a:avLst/>
          </a:prstGeom>
          <a:noFill/>
          <a:ln/>
        </p:spPr>
        <p:txBody>
          <a:bodyPr wrap="square" lIns="0" tIns="0" rIns="0" bIns="0" rtlCol="0" anchor="ctr"/>
          <a:lstStyle/>
          <a:p>
            <a:pPr marL="0" indent="0" algn="ctr">
              <a:buNone/>
            </a:pPr>
            <a:r>
              <a:rPr lang="en-US" sz="1100" b="1" dirty="0">
                <a:solidFill>
                  <a:srgbClr val="FFFFFF"/>
                </a:solidFill>
              </a:rPr>
              <a:t>INPUT</a:t>
            </a:r>
            <a:endParaRPr lang="en-US" sz="1100" dirty="0"/>
          </a:p>
        </p:txBody>
      </p:sp>
      <p:sp>
        <p:nvSpPr>
          <p:cNvPr id="7" name="Text 5"/>
          <p:cNvSpPr/>
          <p:nvPr/>
        </p:nvSpPr>
        <p:spPr>
          <a:xfrm>
            <a:off x="822960" y="2148840"/>
            <a:ext cx="2560320" cy="292608"/>
          </a:xfrm>
          <a:prstGeom prst="rect">
            <a:avLst/>
          </a:prstGeom>
          <a:noFill/>
          <a:ln/>
        </p:spPr>
        <p:txBody>
          <a:bodyPr wrap="square" lIns="0" tIns="0" rIns="0" bIns="0" rtlCol="0" anchor="ctr"/>
          <a:lstStyle/>
          <a:p>
            <a:pPr marL="0" indent="0">
              <a:buNone/>
            </a:pPr>
            <a:r>
              <a:rPr lang="en-US" sz="1800" b="1" dirty="0">
                <a:solidFill>
                  <a:srgbClr val="17324D"/>
                </a:solidFill>
              </a:rPr>
              <a:t>Train arrivals</a:t>
            </a:r>
            <a:endParaRPr lang="en-US" sz="1800" dirty="0"/>
          </a:p>
        </p:txBody>
      </p:sp>
      <p:sp>
        <p:nvSpPr>
          <p:cNvPr id="8" name="Text 6"/>
          <p:cNvSpPr/>
          <p:nvPr/>
        </p:nvSpPr>
        <p:spPr>
          <a:xfrm>
            <a:off x="822960" y="2615184"/>
            <a:ext cx="2560320" cy="640080"/>
          </a:xfrm>
          <a:prstGeom prst="rect">
            <a:avLst/>
          </a:prstGeom>
          <a:noFill/>
          <a:ln/>
        </p:spPr>
        <p:txBody>
          <a:bodyPr wrap="square" lIns="254" tIns="254" rIns="254" bIns="254" rtlCol="0" anchor="ctr">
            <a:normAutofit/>
          </a:bodyPr>
          <a:lstStyle/>
          <a:p>
            <a:pPr marL="0" indent="0">
              <a:buNone/>
            </a:pPr>
            <a:r>
              <a:rPr lang="en-US" sz="1250" dirty="0">
                <a:solidFill>
                  <a:srgbClr val="263238"/>
                </a:solidFill>
              </a:rPr>
              <a:t>Students arrive in groups according to the train timetable.</a:t>
            </a:r>
            <a:endParaRPr lang="en-US" sz="1250" dirty="0"/>
          </a:p>
        </p:txBody>
      </p:sp>
      <p:sp>
        <p:nvSpPr>
          <p:cNvPr id="9" name="Shape 7"/>
          <p:cNvSpPr/>
          <p:nvPr/>
        </p:nvSpPr>
        <p:spPr>
          <a:xfrm>
            <a:off x="4251960" y="1417320"/>
            <a:ext cx="3063240" cy="2057400"/>
          </a:xfrm>
          <a:prstGeom prst="roundRect">
            <a:avLst/>
          </a:prstGeom>
          <a:solidFill>
            <a:srgbClr val="FFFFFF"/>
          </a:solidFill>
          <a:ln w="12700">
            <a:solidFill>
              <a:srgbClr val="D6E2EC"/>
            </a:solidFill>
            <a:prstDash val="solid"/>
          </a:ln>
        </p:spPr>
        <p:txBody>
          <a:bodyPr/>
          <a:lstStyle/>
          <a:p>
            <a:endParaRPr lang="ja-JP" altLang="en-US"/>
          </a:p>
        </p:txBody>
      </p:sp>
      <p:sp>
        <p:nvSpPr>
          <p:cNvPr id="10" name="Shape 8"/>
          <p:cNvSpPr/>
          <p:nvPr/>
        </p:nvSpPr>
        <p:spPr>
          <a:xfrm>
            <a:off x="4480560" y="1645920"/>
            <a:ext cx="777240" cy="320040"/>
          </a:xfrm>
          <a:prstGeom prst="roundRect">
            <a:avLst>
              <a:gd name="adj" fmla="val 22857"/>
            </a:avLst>
          </a:prstGeom>
          <a:solidFill>
            <a:srgbClr val="2367A7"/>
          </a:solidFill>
          <a:ln w="12700">
            <a:solidFill>
              <a:srgbClr val="2367A7"/>
            </a:solidFill>
            <a:prstDash val="solid"/>
          </a:ln>
        </p:spPr>
        <p:txBody>
          <a:bodyPr/>
          <a:lstStyle/>
          <a:p>
            <a:endParaRPr lang="ja-JP" altLang="en-US"/>
          </a:p>
        </p:txBody>
      </p:sp>
      <p:sp>
        <p:nvSpPr>
          <p:cNvPr id="11" name="Text 9"/>
          <p:cNvSpPr/>
          <p:nvPr/>
        </p:nvSpPr>
        <p:spPr>
          <a:xfrm>
            <a:off x="4535424" y="1705356"/>
            <a:ext cx="667512" cy="164592"/>
          </a:xfrm>
          <a:prstGeom prst="rect">
            <a:avLst/>
          </a:prstGeom>
          <a:noFill/>
          <a:ln/>
        </p:spPr>
        <p:txBody>
          <a:bodyPr wrap="square" lIns="0" tIns="0" rIns="0" bIns="0" rtlCol="0" anchor="ctr"/>
          <a:lstStyle/>
          <a:p>
            <a:pPr marL="0" indent="0" algn="ctr">
              <a:buNone/>
            </a:pPr>
            <a:r>
              <a:rPr lang="en-US" sz="1100" b="1" dirty="0">
                <a:solidFill>
                  <a:srgbClr val="FFFFFF"/>
                </a:solidFill>
              </a:rPr>
              <a:t>STATE</a:t>
            </a:r>
            <a:endParaRPr lang="en-US" sz="1100" dirty="0"/>
          </a:p>
        </p:txBody>
      </p:sp>
      <p:sp>
        <p:nvSpPr>
          <p:cNvPr id="12" name="Text 10"/>
          <p:cNvSpPr/>
          <p:nvPr/>
        </p:nvSpPr>
        <p:spPr>
          <a:xfrm>
            <a:off x="4480560" y="2148840"/>
            <a:ext cx="2560320" cy="292608"/>
          </a:xfrm>
          <a:prstGeom prst="rect">
            <a:avLst/>
          </a:prstGeom>
          <a:noFill/>
          <a:ln/>
        </p:spPr>
        <p:txBody>
          <a:bodyPr wrap="square" lIns="0" tIns="0" rIns="0" bIns="0" rtlCol="0" anchor="ctr"/>
          <a:lstStyle/>
          <a:p>
            <a:pPr marL="0" indent="0">
              <a:buNone/>
            </a:pPr>
            <a:r>
              <a:rPr lang="en-US" sz="1800" b="1" dirty="0">
                <a:solidFill>
                  <a:srgbClr val="17324D"/>
                </a:solidFill>
              </a:rPr>
              <a:t>Bus queue</a:t>
            </a:r>
            <a:endParaRPr lang="en-US" sz="1800" dirty="0"/>
          </a:p>
        </p:txBody>
      </p:sp>
      <p:sp>
        <p:nvSpPr>
          <p:cNvPr id="13" name="Text 11"/>
          <p:cNvSpPr/>
          <p:nvPr/>
        </p:nvSpPr>
        <p:spPr>
          <a:xfrm>
            <a:off x="4480560" y="2615184"/>
            <a:ext cx="2560320" cy="640080"/>
          </a:xfrm>
          <a:prstGeom prst="rect">
            <a:avLst/>
          </a:prstGeom>
          <a:noFill/>
          <a:ln/>
        </p:spPr>
        <p:txBody>
          <a:bodyPr wrap="square" lIns="254" tIns="254" rIns="254" bIns="254" rtlCol="0" anchor="ctr">
            <a:normAutofit/>
          </a:bodyPr>
          <a:lstStyle/>
          <a:p>
            <a:pPr marL="0" indent="0">
              <a:buNone/>
            </a:pPr>
            <a:r>
              <a:rPr lang="en-US" sz="1250" dirty="0">
                <a:solidFill>
                  <a:srgbClr val="263238"/>
                </a:solidFill>
              </a:rPr>
              <a:t>Non-walking students join a FIFO queue with their arrival times stored.</a:t>
            </a:r>
            <a:endParaRPr lang="en-US" sz="1250" dirty="0"/>
          </a:p>
        </p:txBody>
      </p:sp>
      <p:sp>
        <p:nvSpPr>
          <p:cNvPr id="14" name="Shape 12"/>
          <p:cNvSpPr/>
          <p:nvPr/>
        </p:nvSpPr>
        <p:spPr>
          <a:xfrm>
            <a:off x="7909560" y="1417320"/>
            <a:ext cx="3063240" cy="2057400"/>
          </a:xfrm>
          <a:prstGeom prst="roundRect">
            <a:avLst/>
          </a:prstGeom>
          <a:solidFill>
            <a:srgbClr val="FFFFFF"/>
          </a:solidFill>
          <a:ln w="12700">
            <a:solidFill>
              <a:srgbClr val="D6E2EC"/>
            </a:solidFill>
            <a:prstDash val="solid"/>
          </a:ln>
        </p:spPr>
        <p:txBody>
          <a:bodyPr/>
          <a:lstStyle/>
          <a:p>
            <a:endParaRPr lang="ja-JP" altLang="en-US"/>
          </a:p>
        </p:txBody>
      </p:sp>
      <p:sp>
        <p:nvSpPr>
          <p:cNvPr id="15" name="Shape 13"/>
          <p:cNvSpPr/>
          <p:nvPr/>
        </p:nvSpPr>
        <p:spPr>
          <a:xfrm>
            <a:off x="8138160" y="1645920"/>
            <a:ext cx="777240" cy="320040"/>
          </a:xfrm>
          <a:prstGeom prst="roundRect">
            <a:avLst>
              <a:gd name="adj" fmla="val 22857"/>
            </a:avLst>
          </a:prstGeom>
          <a:solidFill>
            <a:srgbClr val="E07A2D"/>
          </a:solidFill>
          <a:ln w="12700">
            <a:solidFill>
              <a:srgbClr val="E07A2D"/>
            </a:solidFill>
            <a:prstDash val="solid"/>
          </a:ln>
        </p:spPr>
        <p:txBody>
          <a:bodyPr/>
          <a:lstStyle/>
          <a:p>
            <a:endParaRPr lang="ja-JP" altLang="en-US"/>
          </a:p>
        </p:txBody>
      </p:sp>
      <p:sp>
        <p:nvSpPr>
          <p:cNvPr id="16" name="Text 14"/>
          <p:cNvSpPr/>
          <p:nvPr/>
        </p:nvSpPr>
        <p:spPr>
          <a:xfrm>
            <a:off x="8193024" y="1705356"/>
            <a:ext cx="667512" cy="164592"/>
          </a:xfrm>
          <a:prstGeom prst="rect">
            <a:avLst/>
          </a:prstGeom>
          <a:noFill/>
          <a:ln/>
        </p:spPr>
        <p:txBody>
          <a:bodyPr wrap="square" lIns="0" tIns="0" rIns="0" bIns="0" rtlCol="0" anchor="ctr"/>
          <a:lstStyle/>
          <a:p>
            <a:pPr marL="0" indent="0" algn="ctr">
              <a:buNone/>
            </a:pPr>
            <a:r>
              <a:rPr lang="en-US" sz="1100" b="1" dirty="0">
                <a:solidFill>
                  <a:srgbClr val="FFFFFF"/>
                </a:solidFill>
              </a:rPr>
              <a:t>OUTPUT</a:t>
            </a:r>
            <a:endParaRPr lang="en-US" sz="1100" dirty="0"/>
          </a:p>
        </p:txBody>
      </p:sp>
      <p:sp>
        <p:nvSpPr>
          <p:cNvPr id="17" name="Text 15"/>
          <p:cNvSpPr/>
          <p:nvPr/>
        </p:nvSpPr>
        <p:spPr>
          <a:xfrm>
            <a:off x="8138160" y="2148840"/>
            <a:ext cx="2560320" cy="292608"/>
          </a:xfrm>
          <a:prstGeom prst="rect">
            <a:avLst/>
          </a:prstGeom>
          <a:noFill/>
          <a:ln/>
        </p:spPr>
        <p:txBody>
          <a:bodyPr wrap="square" lIns="0" tIns="0" rIns="0" bIns="0" rtlCol="0" anchor="ctr"/>
          <a:lstStyle/>
          <a:p>
            <a:pPr marL="0" indent="0">
              <a:buNone/>
            </a:pPr>
            <a:r>
              <a:rPr lang="en-US" sz="1800" b="1" dirty="0">
                <a:solidFill>
                  <a:srgbClr val="17324D"/>
                </a:solidFill>
              </a:rPr>
              <a:t>Bus service</a:t>
            </a:r>
            <a:endParaRPr lang="en-US" sz="1800" dirty="0"/>
          </a:p>
        </p:txBody>
      </p:sp>
      <p:sp>
        <p:nvSpPr>
          <p:cNvPr id="18" name="Text 16"/>
          <p:cNvSpPr/>
          <p:nvPr/>
        </p:nvSpPr>
        <p:spPr>
          <a:xfrm>
            <a:off x="8138160" y="2615184"/>
            <a:ext cx="2560320" cy="640080"/>
          </a:xfrm>
          <a:prstGeom prst="rect">
            <a:avLst/>
          </a:prstGeom>
          <a:noFill/>
          <a:ln/>
        </p:spPr>
        <p:txBody>
          <a:bodyPr wrap="square" lIns="254" tIns="254" rIns="254" bIns="254" rtlCol="0" anchor="ctr">
            <a:normAutofit/>
          </a:bodyPr>
          <a:lstStyle/>
          <a:p>
            <a:pPr marL="0" indent="0">
              <a:buNone/>
            </a:pPr>
            <a:r>
              <a:rPr lang="en-US" sz="1250" dirty="0">
                <a:solidFill>
                  <a:srgbClr val="263238"/>
                </a:solidFill>
              </a:rPr>
              <a:t>Buses arrive with random delays and capacities, then board students.</a:t>
            </a:r>
            <a:endParaRPr lang="en-US" sz="1250" dirty="0"/>
          </a:p>
        </p:txBody>
      </p:sp>
      <p:sp>
        <p:nvSpPr>
          <p:cNvPr id="19" name="Shape 17"/>
          <p:cNvSpPr/>
          <p:nvPr/>
        </p:nvSpPr>
        <p:spPr>
          <a:xfrm>
            <a:off x="3703320" y="2450592"/>
            <a:ext cx="457200" cy="0"/>
          </a:xfrm>
          <a:prstGeom prst="line">
            <a:avLst/>
          </a:prstGeom>
          <a:noFill/>
          <a:ln w="25400">
            <a:solidFill>
              <a:srgbClr val="5C7C99"/>
            </a:solidFill>
            <a:prstDash val="solid"/>
            <a:headEnd type="none"/>
            <a:tailEnd type="triangle"/>
          </a:ln>
        </p:spPr>
        <p:txBody>
          <a:bodyPr/>
          <a:lstStyle/>
          <a:p>
            <a:endParaRPr lang="ja-JP" altLang="en-US"/>
          </a:p>
        </p:txBody>
      </p:sp>
      <p:sp>
        <p:nvSpPr>
          <p:cNvPr id="20" name="Shape 18"/>
          <p:cNvSpPr/>
          <p:nvPr/>
        </p:nvSpPr>
        <p:spPr>
          <a:xfrm>
            <a:off x="7360920" y="2450592"/>
            <a:ext cx="457200" cy="0"/>
          </a:xfrm>
          <a:prstGeom prst="line">
            <a:avLst/>
          </a:prstGeom>
          <a:noFill/>
          <a:ln w="25400">
            <a:solidFill>
              <a:srgbClr val="5C7C99"/>
            </a:solidFill>
            <a:prstDash val="solid"/>
            <a:headEnd type="none"/>
            <a:tailEnd type="triangle"/>
          </a:ln>
        </p:spPr>
        <p:txBody>
          <a:bodyPr/>
          <a:lstStyle/>
          <a:p>
            <a:endParaRPr lang="ja-JP" altLang="en-US"/>
          </a:p>
        </p:txBody>
      </p:sp>
      <p:sp>
        <p:nvSpPr>
          <p:cNvPr id="21" name="Shape 19"/>
          <p:cNvSpPr/>
          <p:nvPr/>
        </p:nvSpPr>
        <p:spPr>
          <a:xfrm>
            <a:off x="594360" y="3977640"/>
            <a:ext cx="10378440" cy="1325880"/>
          </a:xfrm>
          <a:prstGeom prst="roundRect">
            <a:avLst/>
          </a:prstGeom>
          <a:solidFill>
            <a:srgbClr val="EAF2F8"/>
          </a:solidFill>
          <a:ln w="12700">
            <a:solidFill>
              <a:srgbClr val="D6E2EC"/>
            </a:solidFill>
            <a:prstDash val="solid"/>
          </a:ln>
        </p:spPr>
        <p:txBody>
          <a:bodyPr/>
          <a:lstStyle/>
          <a:p>
            <a:endParaRPr lang="ja-JP" altLang="en-US"/>
          </a:p>
        </p:txBody>
      </p:sp>
      <p:sp>
        <p:nvSpPr>
          <p:cNvPr id="22" name="Text 20"/>
          <p:cNvSpPr/>
          <p:nvPr/>
        </p:nvSpPr>
        <p:spPr>
          <a:xfrm>
            <a:off x="868680" y="4279392"/>
            <a:ext cx="1645920" cy="274320"/>
          </a:xfrm>
          <a:prstGeom prst="rect">
            <a:avLst/>
          </a:prstGeom>
          <a:noFill/>
          <a:ln/>
        </p:spPr>
        <p:txBody>
          <a:bodyPr wrap="square" lIns="0" tIns="0" rIns="0" bIns="0" rtlCol="0" anchor="ctr"/>
          <a:lstStyle/>
          <a:p>
            <a:pPr marL="0" indent="0">
              <a:buNone/>
            </a:pPr>
            <a:r>
              <a:rPr lang="en-US" sz="1500" b="1" dirty="0">
                <a:solidFill>
                  <a:srgbClr val="17324D"/>
                </a:solidFill>
              </a:rPr>
              <a:t>Key assumptions</a:t>
            </a:r>
            <a:endParaRPr lang="en-US" sz="1500" dirty="0"/>
          </a:p>
        </p:txBody>
      </p:sp>
      <p:sp>
        <p:nvSpPr>
          <p:cNvPr id="23" name="Shape 21"/>
          <p:cNvSpPr/>
          <p:nvPr/>
        </p:nvSpPr>
        <p:spPr>
          <a:xfrm>
            <a:off x="2487168" y="4224528"/>
            <a:ext cx="1444752" cy="320040"/>
          </a:xfrm>
          <a:prstGeom prst="roundRect">
            <a:avLst>
              <a:gd name="adj" fmla="val 22857"/>
            </a:avLst>
          </a:prstGeom>
          <a:solidFill>
            <a:srgbClr val="2367A7"/>
          </a:solidFill>
          <a:ln w="12700">
            <a:solidFill>
              <a:srgbClr val="2367A7"/>
            </a:solidFill>
            <a:prstDash val="solid"/>
          </a:ln>
        </p:spPr>
        <p:txBody>
          <a:bodyPr/>
          <a:lstStyle/>
          <a:p>
            <a:endParaRPr lang="ja-JP" altLang="en-US"/>
          </a:p>
        </p:txBody>
      </p:sp>
      <p:sp>
        <p:nvSpPr>
          <p:cNvPr id="24" name="Text 22"/>
          <p:cNvSpPr/>
          <p:nvPr/>
        </p:nvSpPr>
        <p:spPr>
          <a:xfrm>
            <a:off x="2542032" y="4283964"/>
            <a:ext cx="1335024" cy="164592"/>
          </a:xfrm>
          <a:prstGeom prst="rect">
            <a:avLst/>
          </a:prstGeom>
          <a:noFill/>
          <a:ln/>
        </p:spPr>
        <p:txBody>
          <a:bodyPr wrap="square" lIns="0" tIns="0" rIns="0" bIns="0" rtlCol="0" anchor="ctr"/>
          <a:lstStyle/>
          <a:p>
            <a:pPr marL="0" indent="0" algn="ctr">
              <a:buNone/>
            </a:pPr>
            <a:r>
              <a:rPr lang="en-US" sz="1100" b="1" dirty="0">
                <a:solidFill>
                  <a:srgbClr val="FFFFFF"/>
                </a:solidFill>
              </a:rPr>
              <a:t>1 minute per slot</a:t>
            </a:r>
            <a:endParaRPr lang="en-US" sz="1100" dirty="0"/>
          </a:p>
        </p:txBody>
      </p:sp>
      <p:sp>
        <p:nvSpPr>
          <p:cNvPr id="25" name="Shape 23"/>
          <p:cNvSpPr/>
          <p:nvPr/>
        </p:nvSpPr>
        <p:spPr>
          <a:xfrm>
            <a:off x="4114800" y="4224528"/>
            <a:ext cx="1444752" cy="320040"/>
          </a:xfrm>
          <a:prstGeom prst="roundRect">
            <a:avLst>
              <a:gd name="adj" fmla="val 22857"/>
            </a:avLst>
          </a:prstGeom>
          <a:solidFill>
            <a:srgbClr val="2367A7"/>
          </a:solidFill>
          <a:ln w="12700">
            <a:solidFill>
              <a:srgbClr val="2367A7"/>
            </a:solidFill>
            <a:prstDash val="solid"/>
          </a:ln>
        </p:spPr>
        <p:txBody>
          <a:bodyPr/>
          <a:lstStyle/>
          <a:p>
            <a:endParaRPr lang="ja-JP" altLang="en-US"/>
          </a:p>
        </p:txBody>
      </p:sp>
      <p:sp>
        <p:nvSpPr>
          <p:cNvPr id="26" name="Text 24"/>
          <p:cNvSpPr/>
          <p:nvPr/>
        </p:nvSpPr>
        <p:spPr>
          <a:xfrm>
            <a:off x="4169664" y="4283964"/>
            <a:ext cx="1335024" cy="164592"/>
          </a:xfrm>
          <a:prstGeom prst="rect">
            <a:avLst/>
          </a:prstGeom>
          <a:noFill/>
          <a:ln/>
        </p:spPr>
        <p:txBody>
          <a:bodyPr wrap="square" lIns="0" tIns="0" rIns="0" bIns="0" rtlCol="0" anchor="ctr"/>
          <a:lstStyle/>
          <a:p>
            <a:pPr marL="0" indent="0" algn="ctr">
              <a:buNone/>
            </a:pPr>
            <a:r>
              <a:rPr lang="en-US" sz="1100" b="1" dirty="0">
                <a:solidFill>
                  <a:srgbClr val="FFFFFF"/>
                </a:solidFill>
              </a:rPr>
              <a:t>Train-based group arrivals</a:t>
            </a:r>
            <a:endParaRPr lang="en-US" sz="1100" dirty="0"/>
          </a:p>
        </p:txBody>
      </p:sp>
      <p:sp>
        <p:nvSpPr>
          <p:cNvPr id="27" name="Shape 25"/>
          <p:cNvSpPr/>
          <p:nvPr/>
        </p:nvSpPr>
        <p:spPr>
          <a:xfrm>
            <a:off x="5742432" y="4224528"/>
            <a:ext cx="1444752" cy="320040"/>
          </a:xfrm>
          <a:prstGeom prst="roundRect">
            <a:avLst>
              <a:gd name="adj" fmla="val 22857"/>
            </a:avLst>
          </a:prstGeom>
          <a:solidFill>
            <a:srgbClr val="2E8B57"/>
          </a:solidFill>
          <a:ln w="12700">
            <a:solidFill>
              <a:srgbClr val="2E8B57"/>
            </a:solidFill>
            <a:prstDash val="solid"/>
          </a:ln>
        </p:spPr>
        <p:txBody>
          <a:bodyPr/>
          <a:lstStyle/>
          <a:p>
            <a:endParaRPr lang="ja-JP" altLang="en-US"/>
          </a:p>
        </p:txBody>
      </p:sp>
      <p:sp>
        <p:nvSpPr>
          <p:cNvPr id="28" name="Text 26"/>
          <p:cNvSpPr/>
          <p:nvPr/>
        </p:nvSpPr>
        <p:spPr>
          <a:xfrm>
            <a:off x="5797296" y="4283964"/>
            <a:ext cx="1335024" cy="164592"/>
          </a:xfrm>
          <a:prstGeom prst="rect">
            <a:avLst/>
          </a:prstGeom>
          <a:noFill/>
          <a:ln/>
        </p:spPr>
        <p:txBody>
          <a:bodyPr wrap="square" lIns="0" tIns="0" rIns="0" bIns="0" rtlCol="0" anchor="ctr"/>
          <a:lstStyle/>
          <a:p>
            <a:pPr marL="0" indent="0" algn="ctr">
              <a:buNone/>
            </a:pPr>
            <a:r>
              <a:rPr lang="en-US" sz="1100" b="1" dirty="0">
                <a:solidFill>
                  <a:srgbClr val="FFFFFF"/>
                </a:solidFill>
              </a:rPr>
              <a:t>10% choose to walk</a:t>
            </a:r>
            <a:endParaRPr lang="en-US" sz="1100" dirty="0"/>
          </a:p>
        </p:txBody>
      </p:sp>
      <p:sp>
        <p:nvSpPr>
          <p:cNvPr id="29" name="Shape 27"/>
          <p:cNvSpPr/>
          <p:nvPr/>
        </p:nvSpPr>
        <p:spPr>
          <a:xfrm>
            <a:off x="7370064" y="4224528"/>
            <a:ext cx="1444752" cy="320040"/>
          </a:xfrm>
          <a:prstGeom prst="roundRect">
            <a:avLst>
              <a:gd name="adj" fmla="val 22857"/>
            </a:avLst>
          </a:prstGeom>
          <a:solidFill>
            <a:srgbClr val="E07A2D"/>
          </a:solidFill>
          <a:ln w="12700">
            <a:solidFill>
              <a:srgbClr val="E07A2D"/>
            </a:solidFill>
            <a:prstDash val="solid"/>
          </a:ln>
        </p:spPr>
        <p:txBody>
          <a:bodyPr/>
          <a:lstStyle/>
          <a:p>
            <a:endParaRPr lang="ja-JP" altLang="en-US"/>
          </a:p>
        </p:txBody>
      </p:sp>
      <p:sp>
        <p:nvSpPr>
          <p:cNvPr id="30" name="Text 28"/>
          <p:cNvSpPr/>
          <p:nvPr/>
        </p:nvSpPr>
        <p:spPr>
          <a:xfrm>
            <a:off x="7424928" y="4283964"/>
            <a:ext cx="1335024" cy="164592"/>
          </a:xfrm>
          <a:prstGeom prst="rect">
            <a:avLst/>
          </a:prstGeom>
          <a:noFill/>
          <a:ln/>
        </p:spPr>
        <p:txBody>
          <a:bodyPr wrap="square" lIns="0" tIns="0" rIns="0" bIns="0" rtlCol="0" anchor="ctr"/>
          <a:lstStyle/>
          <a:p>
            <a:pPr marL="0" indent="0" algn="ctr">
              <a:buNone/>
            </a:pPr>
            <a:r>
              <a:rPr lang="en-US" sz="1100" b="1" dirty="0">
                <a:solidFill>
                  <a:srgbClr val="FFFFFF"/>
                </a:solidFill>
              </a:rPr>
              <a:t>Bus capacity: 70–80</a:t>
            </a:r>
            <a:endParaRPr lang="en-US" sz="1100" dirty="0"/>
          </a:p>
        </p:txBody>
      </p:sp>
      <p:sp>
        <p:nvSpPr>
          <p:cNvPr id="31" name="Shape 29"/>
          <p:cNvSpPr/>
          <p:nvPr/>
        </p:nvSpPr>
        <p:spPr>
          <a:xfrm>
            <a:off x="8997696" y="4224528"/>
            <a:ext cx="1444752" cy="320040"/>
          </a:xfrm>
          <a:prstGeom prst="roundRect">
            <a:avLst>
              <a:gd name="adj" fmla="val 22857"/>
            </a:avLst>
          </a:prstGeom>
          <a:solidFill>
            <a:srgbClr val="E07A2D"/>
          </a:solidFill>
          <a:ln w="12700">
            <a:solidFill>
              <a:srgbClr val="E07A2D"/>
            </a:solidFill>
            <a:prstDash val="solid"/>
          </a:ln>
        </p:spPr>
        <p:txBody>
          <a:bodyPr/>
          <a:lstStyle/>
          <a:p>
            <a:endParaRPr lang="ja-JP" altLang="en-US"/>
          </a:p>
        </p:txBody>
      </p:sp>
      <p:sp>
        <p:nvSpPr>
          <p:cNvPr id="32" name="Text 30"/>
          <p:cNvSpPr/>
          <p:nvPr/>
        </p:nvSpPr>
        <p:spPr>
          <a:xfrm>
            <a:off x="9052560" y="4283964"/>
            <a:ext cx="1335024" cy="164592"/>
          </a:xfrm>
          <a:prstGeom prst="rect">
            <a:avLst/>
          </a:prstGeom>
          <a:noFill/>
          <a:ln/>
        </p:spPr>
        <p:txBody>
          <a:bodyPr wrap="square" lIns="0" tIns="0" rIns="0" bIns="0" rtlCol="0" anchor="ctr"/>
          <a:lstStyle/>
          <a:p>
            <a:pPr marL="0" indent="0" algn="ctr">
              <a:buNone/>
            </a:pPr>
            <a:r>
              <a:rPr lang="en-US" sz="1100" b="1" dirty="0">
                <a:solidFill>
                  <a:srgbClr val="FFFFFF"/>
                </a:solidFill>
              </a:rPr>
              <a:t>Bus delay: 0–5 min</a:t>
            </a:r>
            <a:endParaRPr lang="en-US" sz="1100" dirty="0"/>
          </a:p>
        </p:txBody>
      </p:sp>
      <p:sp>
        <p:nvSpPr>
          <p:cNvPr id="33" name="Text 31"/>
          <p:cNvSpPr/>
          <p:nvPr/>
        </p:nvSpPr>
        <p:spPr>
          <a:xfrm>
            <a:off x="868680" y="5532120"/>
            <a:ext cx="10149840" cy="320040"/>
          </a:xfrm>
          <a:prstGeom prst="rect">
            <a:avLst/>
          </a:prstGeom>
          <a:noFill/>
          <a:ln/>
        </p:spPr>
        <p:txBody>
          <a:bodyPr wrap="square" lIns="0" tIns="0" rIns="0" bIns="0" rtlCol="0" anchor="ctr"/>
          <a:lstStyle/>
          <a:p>
            <a:pPr marL="0" indent="0" algn="ctr">
              <a:buNone/>
            </a:pPr>
            <a:r>
              <a:rPr lang="en-US" sz="1300" dirty="0">
                <a:solidFill>
                  <a:srgbClr val="6B7280"/>
                </a:solidFill>
              </a:rPr>
              <a:t>The model tracks each student’s arrival minute, making both FIFO boarding and individual waiting-time calculation possible.</a:t>
            </a:r>
            <a:endParaRPr lang="en-US" sz="1300" dirty="0"/>
          </a:p>
        </p:txBody>
      </p:sp>
      <p:sp>
        <p:nvSpPr>
          <p:cNvPr id="34"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47472"/>
            <a:ext cx="11155680" cy="438912"/>
          </a:xfrm>
          <a:prstGeom prst="rect">
            <a:avLst/>
          </a:prstGeom>
          <a:noFill/>
          <a:ln/>
        </p:spPr>
        <p:txBody>
          <a:bodyPr wrap="square" lIns="0" tIns="0" rIns="0" bIns="0" rtlCol="0" anchor="ctr"/>
          <a:lstStyle/>
          <a:p>
            <a:pPr marL="0" indent="0">
              <a:buNone/>
            </a:pPr>
            <a:r>
              <a:rPr lang="en-US" sz="2500" b="1" dirty="0">
                <a:solidFill>
                  <a:srgbClr val="17324D"/>
                </a:solidFill>
                <a:latin typeface="Aptos Display" pitchFamily="34" charset="0"/>
                <a:ea typeface="Aptos Display" pitchFamily="34" charset="-122"/>
                <a:cs typeface="Aptos Display" pitchFamily="34" charset="-120"/>
              </a:rPr>
              <a:t>2. Three-File Architecture</a:t>
            </a:r>
            <a:endParaRPr lang="en-US" sz="2500" dirty="0"/>
          </a:p>
        </p:txBody>
      </p:sp>
      <p:sp>
        <p:nvSpPr>
          <p:cNvPr id="3" name="Text 1"/>
          <p:cNvSpPr/>
          <p:nvPr/>
        </p:nvSpPr>
        <p:spPr>
          <a:xfrm>
            <a:off x="530352" y="841248"/>
            <a:ext cx="10881360" cy="237744"/>
          </a:xfrm>
          <a:prstGeom prst="rect">
            <a:avLst/>
          </a:prstGeom>
          <a:noFill/>
          <a:ln/>
        </p:spPr>
        <p:txBody>
          <a:bodyPr wrap="square" lIns="0" tIns="0" rIns="0" bIns="0" rtlCol="0" anchor="ctr"/>
          <a:lstStyle/>
          <a:p>
            <a:pPr marL="0" indent="0">
              <a:buNone/>
            </a:pPr>
            <a:r>
              <a:rPr lang="en-US" sz="1150" dirty="0">
                <a:solidFill>
                  <a:srgbClr val="6B7280"/>
                </a:solidFill>
              </a:rPr>
              <a:t>Each file has one clear responsibility</a:t>
            </a:r>
            <a:endParaRPr lang="en-US" sz="1150" dirty="0"/>
          </a:p>
        </p:txBody>
      </p:sp>
      <p:sp>
        <p:nvSpPr>
          <p:cNvPr id="4" name="Shape 2"/>
          <p:cNvSpPr/>
          <p:nvPr/>
        </p:nvSpPr>
        <p:spPr>
          <a:xfrm>
            <a:off x="594360" y="1325880"/>
            <a:ext cx="3246120" cy="4343400"/>
          </a:xfrm>
          <a:prstGeom prst="roundRect">
            <a:avLst/>
          </a:prstGeom>
          <a:solidFill>
            <a:srgbClr val="FFFFFF"/>
          </a:solidFill>
          <a:ln w="12700">
            <a:solidFill>
              <a:srgbClr val="D6E2EC"/>
            </a:solidFill>
            <a:prstDash val="solid"/>
          </a:ln>
          <a:effectLst>
            <a:outerShdw blurRad="12700" dist="50800" dir="2700000" algn="bl" rotWithShape="0">
              <a:srgbClr val="D9E1E8">
                <a:alpha val="18000"/>
              </a:srgbClr>
            </a:outerShdw>
          </a:effectLst>
        </p:spPr>
        <p:txBody>
          <a:bodyPr/>
          <a:lstStyle/>
          <a:p>
            <a:endParaRPr lang="ja-JP" altLang="en-US"/>
          </a:p>
        </p:txBody>
      </p:sp>
      <p:sp>
        <p:nvSpPr>
          <p:cNvPr id="5" name="Shape 3"/>
          <p:cNvSpPr/>
          <p:nvPr/>
        </p:nvSpPr>
        <p:spPr>
          <a:xfrm>
            <a:off x="832104" y="1581912"/>
            <a:ext cx="530352" cy="530352"/>
          </a:xfrm>
          <a:prstGeom prst="ellipse">
            <a:avLst/>
          </a:prstGeom>
          <a:solidFill>
            <a:srgbClr val="2367A7"/>
          </a:solidFill>
          <a:ln w="12700">
            <a:solidFill>
              <a:srgbClr val="2367A7"/>
            </a:solidFill>
            <a:prstDash val="solid"/>
          </a:ln>
        </p:spPr>
        <p:txBody>
          <a:bodyPr/>
          <a:lstStyle/>
          <a:p>
            <a:endParaRPr lang="ja-JP" altLang="en-US"/>
          </a:p>
        </p:txBody>
      </p:sp>
      <p:sp>
        <p:nvSpPr>
          <p:cNvPr id="6" name="Text 4"/>
          <p:cNvSpPr/>
          <p:nvPr/>
        </p:nvSpPr>
        <p:spPr>
          <a:xfrm>
            <a:off x="832104" y="1728216"/>
            <a:ext cx="530352" cy="164592"/>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7" name="Text 5"/>
          <p:cNvSpPr/>
          <p:nvPr/>
        </p:nvSpPr>
        <p:spPr>
          <a:xfrm>
            <a:off x="841248" y="2331720"/>
            <a:ext cx="2697480" cy="320040"/>
          </a:xfrm>
          <a:prstGeom prst="rect">
            <a:avLst/>
          </a:prstGeom>
          <a:noFill/>
          <a:ln/>
        </p:spPr>
        <p:txBody>
          <a:bodyPr wrap="square" lIns="0" tIns="0" rIns="0" bIns="0" rtlCol="0" anchor="ctr">
            <a:normAutofit/>
          </a:bodyPr>
          <a:lstStyle/>
          <a:p>
            <a:pPr marL="0" indent="0">
              <a:buNone/>
            </a:pPr>
            <a:r>
              <a:rPr lang="en-US" sz="1800" b="1" dirty="0">
                <a:solidFill>
                  <a:srgbClr val="17324D"/>
                </a:solidFill>
              </a:rPr>
              <a:t>main.m</a:t>
            </a:r>
            <a:endParaRPr lang="en-US" sz="1800" dirty="0"/>
          </a:p>
        </p:txBody>
      </p:sp>
      <p:sp>
        <p:nvSpPr>
          <p:cNvPr id="8" name="Text 6"/>
          <p:cNvSpPr/>
          <p:nvPr/>
        </p:nvSpPr>
        <p:spPr>
          <a:xfrm>
            <a:off x="841248" y="2697480"/>
            <a:ext cx="2697480" cy="228600"/>
          </a:xfrm>
          <a:prstGeom prst="rect">
            <a:avLst/>
          </a:prstGeom>
          <a:noFill/>
          <a:ln/>
        </p:spPr>
        <p:txBody>
          <a:bodyPr wrap="square" lIns="0" tIns="0" rIns="0" bIns="0" rtlCol="0" anchor="ctr"/>
          <a:lstStyle/>
          <a:p>
            <a:pPr marL="0" indent="0">
              <a:buNone/>
            </a:pPr>
            <a:r>
              <a:rPr lang="en-US" sz="1150" dirty="0">
                <a:solidFill>
                  <a:srgbClr val="6B7280"/>
                </a:solidFill>
              </a:rPr>
              <a:t>Experiment controller</a:t>
            </a:r>
            <a:endParaRPr lang="en-US" sz="1150" dirty="0"/>
          </a:p>
        </p:txBody>
      </p:sp>
      <p:sp>
        <p:nvSpPr>
          <p:cNvPr id="9" name="Shape 7"/>
          <p:cNvSpPr/>
          <p:nvPr/>
        </p:nvSpPr>
        <p:spPr>
          <a:xfrm>
            <a:off x="877824" y="3255264"/>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10" name="Text 8"/>
          <p:cNvSpPr/>
          <p:nvPr/>
        </p:nvSpPr>
        <p:spPr>
          <a:xfrm>
            <a:off x="1124712" y="3163824"/>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Sets schedules and parameters</a:t>
            </a:r>
            <a:endParaRPr lang="en-US" sz="1250" dirty="0"/>
          </a:p>
        </p:txBody>
      </p:sp>
      <p:sp>
        <p:nvSpPr>
          <p:cNvPr id="11" name="Shape 9"/>
          <p:cNvSpPr/>
          <p:nvPr/>
        </p:nvSpPr>
        <p:spPr>
          <a:xfrm>
            <a:off x="877824" y="3913632"/>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12" name="Text 10"/>
          <p:cNvSpPr/>
          <p:nvPr/>
        </p:nvSpPr>
        <p:spPr>
          <a:xfrm>
            <a:off x="1124712" y="3822192"/>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Runs 10,000 simulations</a:t>
            </a:r>
            <a:endParaRPr lang="en-US" sz="1250" dirty="0"/>
          </a:p>
        </p:txBody>
      </p:sp>
      <p:sp>
        <p:nvSpPr>
          <p:cNvPr id="13" name="Shape 11"/>
          <p:cNvSpPr/>
          <p:nvPr/>
        </p:nvSpPr>
        <p:spPr>
          <a:xfrm>
            <a:off x="877824" y="4572000"/>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14" name="Text 12"/>
          <p:cNvSpPr/>
          <p:nvPr/>
        </p:nvSpPr>
        <p:spPr>
          <a:xfrm>
            <a:off x="1124712" y="4480560"/>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Aggregates means and standard deviations</a:t>
            </a:r>
            <a:endParaRPr lang="en-US" sz="1250" dirty="0"/>
          </a:p>
        </p:txBody>
      </p:sp>
      <p:sp>
        <p:nvSpPr>
          <p:cNvPr id="15" name="Shape 13"/>
          <p:cNvSpPr/>
          <p:nvPr/>
        </p:nvSpPr>
        <p:spPr>
          <a:xfrm>
            <a:off x="4187952" y="1325880"/>
            <a:ext cx="3246120" cy="4343400"/>
          </a:xfrm>
          <a:prstGeom prst="roundRect">
            <a:avLst/>
          </a:prstGeom>
          <a:solidFill>
            <a:srgbClr val="FFFFFF"/>
          </a:solidFill>
          <a:ln w="12700">
            <a:solidFill>
              <a:srgbClr val="D6E2EC"/>
            </a:solidFill>
            <a:prstDash val="solid"/>
          </a:ln>
          <a:effectLst>
            <a:outerShdw blurRad="12700" dist="50800" dir="2700000" algn="bl" rotWithShape="0">
              <a:srgbClr val="D9E1E8">
                <a:alpha val="18000"/>
              </a:srgbClr>
            </a:outerShdw>
          </a:effectLst>
        </p:spPr>
        <p:txBody>
          <a:bodyPr/>
          <a:lstStyle/>
          <a:p>
            <a:endParaRPr lang="ja-JP" altLang="en-US"/>
          </a:p>
        </p:txBody>
      </p:sp>
      <p:sp>
        <p:nvSpPr>
          <p:cNvPr id="16" name="Shape 14"/>
          <p:cNvSpPr/>
          <p:nvPr/>
        </p:nvSpPr>
        <p:spPr>
          <a:xfrm>
            <a:off x="4425696" y="1581912"/>
            <a:ext cx="530352" cy="530352"/>
          </a:xfrm>
          <a:prstGeom prst="ellipse">
            <a:avLst/>
          </a:prstGeom>
          <a:solidFill>
            <a:srgbClr val="2E8B57"/>
          </a:solidFill>
          <a:ln w="12700">
            <a:solidFill>
              <a:srgbClr val="2E8B57"/>
            </a:solidFill>
            <a:prstDash val="solid"/>
          </a:ln>
        </p:spPr>
        <p:txBody>
          <a:bodyPr/>
          <a:lstStyle/>
          <a:p>
            <a:endParaRPr lang="ja-JP" altLang="en-US"/>
          </a:p>
        </p:txBody>
      </p:sp>
      <p:sp>
        <p:nvSpPr>
          <p:cNvPr id="17" name="Text 15"/>
          <p:cNvSpPr/>
          <p:nvPr/>
        </p:nvSpPr>
        <p:spPr>
          <a:xfrm>
            <a:off x="4425696" y="1728216"/>
            <a:ext cx="530352" cy="164592"/>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8" name="Text 16"/>
          <p:cNvSpPr/>
          <p:nvPr/>
        </p:nvSpPr>
        <p:spPr>
          <a:xfrm>
            <a:off x="4434840" y="2331720"/>
            <a:ext cx="2697480" cy="320040"/>
          </a:xfrm>
          <a:prstGeom prst="rect">
            <a:avLst/>
          </a:prstGeom>
          <a:noFill/>
          <a:ln/>
        </p:spPr>
        <p:txBody>
          <a:bodyPr wrap="square" lIns="0" tIns="0" rIns="0" bIns="0" rtlCol="0" anchor="ctr">
            <a:normAutofit/>
          </a:bodyPr>
          <a:lstStyle/>
          <a:p>
            <a:pPr marL="0" indent="0">
              <a:buNone/>
            </a:pPr>
            <a:r>
              <a:rPr lang="en-US" sz="1800" b="1" dirty="0">
                <a:solidFill>
                  <a:srgbClr val="17324D"/>
                </a:solidFill>
              </a:rPr>
              <a:t>run_single_simulation.m</a:t>
            </a:r>
            <a:endParaRPr lang="en-US" sz="1800" dirty="0"/>
          </a:p>
        </p:txBody>
      </p:sp>
      <p:sp>
        <p:nvSpPr>
          <p:cNvPr id="19" name="Text 17"/>
          <p:cNvSpPr/>
          <p:nvPr/>
        </p:nvSpPr>
        <p:spPr>
          <a:xfrm>
            <a:off x="4434840" y="2697480"/>
            <a:ext cx="2697480" cy="228600"/>
          </a:xfrm>
          <a:prstGeom prst="rect">
            <a:avLst/>
          </a:prstGeom>
          <a:noFill/>
          <a:ln/>
        </p:spPr>
        <p:txBody>
          <a:bodyPr wrap="square" lIns="0" tIns="0" rIns="0" bIns="0" rtlCol="0" anchor="ctr"/>
          <a:lstStyle/>
          <a:p>
            <a:pPr marL="0" indent="0">
              <a:buNone/>
            </a:pPr>
            <a:r>
              <a:rPr lang="en-US" sz="1150" dirty="0">
                <a:solidFill>
                  <a:srgbClr val="6B7280"/>
                </a:solidFill>
              </a:rPr>
              <a:t>Single-run engine</a:t>
            </a:r>
            <a:endParaRPr lang="en-US" sz="1150" dirty="0"/>
          </a:p>
        </p:txBody>
      </p:sp>
      <p:sp>
        <p:nvSpPr>
          <p:cNvPr id="20" name="Shape 18"/>
          <p:cNvSpPr/>
          <p:nvPr/>
        </p:nvSpPr>
        <p:spPr>
          <a:xfrm>
            <a:off x="4471416" y="3255264"/>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21" name="Text 19"/>
          <p:cNvSpPr/>
          <p:nvPr/>
        </p:nvSpPr>
        <p:spPr>
          <a:xfrm>
            <a:off x="4718304" y="3163824"/>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Generates bus capacity and delay</a:t>
            </a:r>
            <a:endParaRPr lang="en-US" sz="1250" dirty="0"/>
          </a:p>
        </p:txBody>
      </p:sp>
      <p:sp>
        <p:nvSpPr>
          <p:cNvPr id="22" name="Shape 20"/>
          <p:cNvSpPr/>
          <p:nvPr/>
        </p:nvSpPr>
        <p:spPr>
          <a:xfrm>
            <a:off x="4471416" y="3913632"/>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23" name="Text 21"/>
          <p:cNvSpPr/>
          <p:nvPr/>
        </p:nvSpPr>
        <p:spPr>
          <a:xfrm>
            <a:off x="4718304" y="3822192"/>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Processes train and bus events</a:t>
            </a:r>
            <a:endParaRPr lang="en-US" sz="1250" dirty="0"/>
          </a:p>
        </p:txBody>
      </p:sp>
      <p:sp>
        <p:nvSpPr>
          <p:cNvPr id="24" name="Shape 22"/>
          <p:cNvSpPr/>
          <p:nvPr/>
        </p:nvSpPr>
        <p:spPr>
          <a:xfrm>
            <a:off x="4471416" y="4572000"/>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25" name="Text 23"/>
          <p:cNvSpPr/>
          <p:nvPr/>
        </p:nvSpPr>
        <p:spPr>
          <a:xfrm>
            <a:off x="4718304" y="4480560"/>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Calculates waiting-time metrics</a:t>
            </a:r>
            <a:endParaRPr lang="en-US" sz="1250" dirty="0"/>
          </a:p>
        </p:txBody>
      </p:sp>
      <p:sp>
        <p:nvSpPr>
          <p:cNvPr id="26" name="Shape 24"/>
          <p:cNvSpPr/>
          <p:nvPr/>
        </p:nvSpPr>
        <p:spPr>
          <a:xfrm>
            <a:off x="7781544" y="1325880"/>
            <a:ext cx="3246120" cy="4343400"/>
          </a:xfrm>
          <a:prstGeom prst="roundRect">
            <a:avLst/>
          </a:prstGeom>
          <a:solidFill>
            <a:srgbClr val="FFFFFF"/>
          </a:solidFill>
          <a:ln w="12700">
            <a:solidFill>
              <a:srgbClr val="D6E2EC"/>
            </a:solidFill>
            <a:prstDash val="solid"/>
          </a:ln>
          <a:effectLst>
            <a:outerShdw blurRad="12700" dist="50800" dir="2700000" algn="bl" rotWithShape="0">
              <a:srgbClr val="D9E1E8">
                <a:alpha val="18000"/>
              </a:srgbClr>
            </a:outerShdw>
          </a:effectLst>
        </p:spPr>
        <p:txBody>
          <a:bodyPr/>
          <a:lstStyle/>
          <a:p>
            <a:endParaRPr lang="ja-JP" altLang="en-US"/>
          </a:p>
        </p:txBody>
      </p:sp>
      <p:sp>
        <p:nvSpPr>
          <p:cNvPr id="27" name="Shape 25"/>
          <p:cNvSpPr/>
          <p:nvPr/>
        </p:nvSpPr>
        <p:spPr>
          <a:xfrm>
            <a:off x="8019288" y="1581912"/>
            <a:ext cx="530352" cy="530352"/>
          </a:xfrm>
          <a:prstGeom prst="ellipse">
            <a:avLst/>
          </a:prstGeom>
          <a:solidFill>
            <a:srgbClr val="E07A2D"/>
          </a:solidFill>
          <a:ln w="12700">
            <a:solidFill>
              <a:srgbClr val="E07A2D"/>
            </a:solidFill>
            <a:prstDash val="solid"/>
          </a:ln>
        </p:spPr>
        <p:txBody>
          <a:bodyPr/>
          <a:lstStyle/>
          <a:p>
            <a:endParaRPr lang="ja-JP" altLang="en-US"/>
          </a:p>
        </p:txBody>
      </p:sp>
      <p:sp>
        <p:nvSpPr>
          <p:cNvPr id="28" name="Text 26"/>
          <p:cNvSpPr/>
          <p:nvPr/>
        </p:nvSpPr>
        <p:spPr>
          <a:xfrm>
            <a:off x="8019288" y="1728216"/>
            <a:ext cx="530352" cy="164592"/>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9" name="Text 27"/>
          <p:cNvSpPr/>
          <p:nvPr/>
        </p:nvSpPr>
        <p:spPr>
          <a:xfrm>
            <a:off x="8028432" y="2331720"/>
            <a:ext cx="2999232" cy="320040"/>
          </a:xfrm>
          <a:prstGeom prst="rect">
            <a:avLst/>
          </a:prstGeom>
          <a:noFill/>
          <a:ln/>
        </p:spPr>
        <p:txBody>
          <a:bodyPr wrap="square" lIns="0" tIns="0" rIns="0" bIns="0" rtlCol="0" anchor="ctr">
            <a:normAutofit/>
          </a:bodyPr>
          <a:lstStyle/>
          <a:p>
            <a:pPr marL="0" indent="0">
              <a:buNone/>
            </a:pPr>
            <a:r>
              <a:rPr lang="en-US" sz="1800" b="1" dirty="0">
                <a:solidFill>
                  <a:srgbClr val="17324D"/>
                </a:solidFill>
              </a:rPr>
              <a:t>plot_simulation_results.m</a:t>
            </a:r>
            <a:endParaRPr lang="en-US" sz="1800" dirty="0"/>
          </a:p>
        </p:txBody>
      </p:sp>
      <p:sp>
        <p:nvSpPr>
          <p:cNvPr id="30" name="Text 28"/>
          <p:cNvSpPr/>
          <p:nvPr/>
        </p:nvSpPr>
        <p:spPr>
          <a:xfrm>
            <a:off x="8028432" y="2697480"/>
            <a:ext cx="2697480" cy="228600"/>
          </a:xfrm>
          <a:prstGeom prst="rect">
            <a:avLst/>
          </a:prstGeom>
          <a:noFill/>
          <a:ln/>
        </p:spPr>
        <p:txBody>
          <a:bodyPr wrap="square" lIns="0" tIns="0" rIns="0" bIns="0" rtlCol="0" anchor="ctr"/>
          <a:lstStyle/>
          <a:p>
            <a:pPr marL="0" indent="0">
              <a:buNone/>
            </a:pPr>
            <a:r>
              <a:rPr lang="en-US" sz="1150" dirty="0">
                <a:solidFill>
                  <a:srgbClr val="6B7280"/>
                </a:solidFill>
              </a:rPr>
              <a:t>Visualization</a:t>
            </a:r>
            <a:endParaRPr lang="en-US" sz="1150" dirty="0"/>
          </a:p>
        </p:txBody>
      </p:sp>
      <p:sp>
        <p:nvSpPr>
          <p:cNvPr id="31" name="Shape 29"/>
          <p:cNvSpPr/>
          <p:nvPr/>
        </p:nvSpPr>
        <p:spPr>
          <a:xfrm>
            <a:off x="8065008" y="3255264"/>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32" name="Text 30"/>
          <p:cNvSpPr/>
          <p:nvPr/>
        </p:nvSpPr>
        <p:spPr>
          <a:xfrm>
            <a:off x="8311896" y="3163824"/>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Receives the mean queue history</a:t>
            </a:r>
            <a:endParaRPr lang="en-US" sz="1250" dirty="0"/>
          </a:p>
        </p:txBody>
      </p:sp>
      <p:sp>
        <p:nvSpPr>
          <p:cNvPr id="33" name="Shape 31"/>
          <p:cNvSpPr/>
          <p:nvPr/>
        </p:nvSpPr>
        <p:spPr>
          <a:xfrm>
            <a:off x="8065008" y="3913632"/>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34" name="Text 32"/>
          <p:cNvSpPr/>
          <p:nvPr/>
        </p:nvSpPr>
        <p:spPr>
          <a:xfrm>
            <a:off x="8311896" y="3822192"/>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Plots average queue length over time</a:t>
            </a:r>
            <a:endParaRPr lang="en-US" sz="1250" dirty="0"/>
          </a:p>
        </p:txBody>
      </p:sp>
      <p:sp>
        <p:nvSpPr>
          <p:cNvPr id="35" name="Shape 33"/>
          <p:cNvSpPr/>
          <p:nvPr/>
        </p:nvSpPr>
        <p:spPr>
          <a:xfrm>
            <a:off x="8065008" y="4572000"/>
            <a:ext cx="146304" cy="146304"/>
          </a:xfrm>
          <a:prstGeom prst="ellipse">
            <a:avLst/>
          </a:prstGeom>
          <a:solidFill>
            <a:srgbClr val="2367A7"/>
          </a:solidFill>
          <a:ln w="12700">
            <a:solidFill>
              <a:srgbClr val="2367A7"/>
            </a:solidFill>
            <a:prstDash val="solid"/>
          </a:ln>
        </p:spPr>
        <p:txBody>
          <a:bodyPr/>
          <a:lstStyle/>
          <a:p>
            <a:endParaRPr lang="ja-JP" altLang="en-US"/>
          </a:p>
        </p:txBody>
      </p:sp>
      <p:sp>
        <p:nvSpPr>
          <p:cNvPr id="36" name="Text 34"/>
          <p:cNvSpPr/>
          <p:nvPr/>
        </p:nvSpPr>
        <p:spPr>
          <a:xfrm>
            <a:off x="8311896" y="4480560"/>
            <a:ext cx="2331720" cy="402336"/>
          </a:xfrm>
          <a:prstGeom prst="rect">
            <a:avLst/>
          </a:prstGeom>
          <a:noFill/>
          <a:ln/>
        </p:spPr>
        <p:txBody>
          <a:bodyPr wrap="square" lIns="0" tIns="0" rIns="0" bIns="0" rtlCol="0" anchor="ctr">
            <a:normAutofit/>
          </a:bodyPr>
          <a:lstStyle/>
          <a:p>
            <a:pPr marL="0" indent="0">
              <a:buNone/>
            </a:pPr>
            <a:r>
              <a:rPr lang="en-US" sz="1250" dirty="0">
                <a:solidFill>
                  <a:srgbClr val="263238"/>
                </a:solidFill>
              </a:rPr>
              <a:t>Keeps analysis and plotting separate</a:t>
            </a:r>
            <a:endParaRPr lang="en-US" sz="1250" dirty="0"/>
          </a:p>
        </p:txBody>
      </p:sp>
      <p:sp>
        <p:nvSpPr>
          <p:cNvPr id="37" name="Shape 35"/>
          <p:cNvSpPr/>
          <p:nvPr/>
        </p:nvSpPr>
        <p:spPr>
          <a:xfrm>
            <a:off x="3886200" y="3474720"/>
            <a:ext cx="246888" cy="0"/>
          </a:xfrm>
          <a:prstGeom prst="line">
            <a:avLst/>
          </a:prstGeom>
          <a:noFill/>
          <a:ln w="25400">
            <a:solidFill>
              <a:srgbClr val="5C7C99"/>
            </a:solidFill>
            <a:prstDash val="solid"/>
            <a:headEnd type="none"/>
            <a:tailEnd type="triangle"/>
          </a:ln>
        </p:spPr>
        <p:txBody>
          <a:bodyPr/>
          <a:lstStyle/>
          <a:p>
            <a:endParaRPr lang="ja-JP" altLang="en-US"/>
          </a:p>
        </p:txBody>
      </p:sp>
      <p:sp>
        <p:nvSpPr>
          <p:cNvPr id="38" name="Shape 36"/>
          <p:cNvSpPr/>
          <p:nvPr/>
        </p:nvSpPr>
        <p:spPr>
          <a:xfrm>
            <a:off x="7479792" y="3474720"/>
            <a:ext cx="246888" cy="0"/>
          </a:xfrm>
          <a:prstGeom prst="line">
            <a:avLst/>
          </a:prstGeom>
          <a:noFill/>
          <a:ln w="25400">
            <a:solidFill>
              <a:srgbClr val="5C7C99"/>
            </a:solidFill>
            <a:prstDash val="solid"/>
            <a:headEnd type="none"/>
            <a:tailEnd type="triangle"/>
          </a:ln>
        </p:spPr>
        <p:txBody>
          <a:bodyPr/>
          <a:lstStyle/>
          <a:p>
            <a:endParaRPr lang="ja-JP" altLang="en-US"/>
          </a:p>
        </p:txBody>
      </p:sp>
      <p:sp>
        <p:nvSpPr>
          <p:cNvPr id="39"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47472"/>
            <a:ext cx="11155680" cy="438912"/>
          </a:xfrm>
          <a:prstGeom prst="rect">
            <a:avLst/>
          </a:prstGeom>
          <a:noFill/>
          <a:ln/>
        </p:spPr>
        <p:txBody>
          <a:bodyPr wrap="square" lIns="0" tIns="0" rIns="0" bIns="0" rtlCol="0" anchor="ctr"/>
          <a:lstStyle/>
          <a:p>
            <a:pPr marL="0" indent="0">
              <a:buNone/>
            </a:pPr>
            <a:r>
              <a:rPr lang="en-US" sz="2500" b="1" dirty="0">
                <a:solidFill>
                  <a:srgbClr val="17324D"/>
                </a:solidFill>
                <a:latin typeface="Aptos Display" pitchFamily="34" charset="0"/>
                <a:ea typeface="Aptos Display" pitchFamily="34" charset="-122"/>
                <a:cs typeface="Aptos Display" pitchFamily="34" charset="-120"/>
              </a:rPr>
              <a:t>3. How the Queue Is Reproduced</a:t>
            </a:r>
            <a:endParaRPr lang="en-US" sz="2500" dirty="0"/>
          </a:p>
        </p:txBody>
      </p:sp>
      <p:sp>
        <p:nvSpPr>
          <p:cNvPr id="3" name="Text 1"/>
          <p:cNvSpPr/>
          <p:nvPr/>
        </p:nvSpPr>
        <p:spPr>
          <a:xfrm>
            <a:off x="530352" y="841248"/>
            <a:ext cx="10881360" cy="237744"/>
          </a:xfrm>
          <a:prstGeom prst="rect">
            <a:avLst/>
          </a:prstGeom>
          <a:noFill/>
          <a:ln/>
        </p:spPr>
        <p:txBody>
          <a:bodyPr wrap="square" lIns="0" tIns="0" rIns="0" bIns="0" rtlCol="0" anchor="ctr"/>
          <a:lstStyle/>
          <a:p>
            <a:pPr marL="0" indent="0">
              <a:buNone/>
            </a:pPr>
            <a:r>
              <a:rPr lang="en-US" sz="1150" dirty="0">
                <a:solidFill>
                  <a:srgbClr val="6B7280"/>
                </a:solidFill>
              </a:rPr>
              <a:t>A student-level FIFO model</a:t>
            </a:r>
            <a:endParaRPr lang="en-US" sz="1150" dirty="0"/>
          </a:p>
        </p:txBody>
      </p:sp>
      <p:sp>
        <p:nvSpPr>
          <p:cNvPr id="4" name="Shape 2"/>
          <p:cNvSpPr/>
          <p:nvPr/>
        </p:nvSpPr>
        <p:spPr>
          <a:xfrm>
            <a:off x="502920" y="1417320"/>
            <a:ext cx="1581912" cy="1874520"/>
          </a:xfrm>
          <a:prstGeom prst="roundRect">
            <a:avLst/>
          </a:prstGeom>
          <a:solidFill>
            <a:srgbClr val="FFFFFF"/>
          </a:solidFill>
          <a:ln w="12700">
            <a:solidFill>
              <a:srgbClr val="D6E2EC"/>
            </a:solidFill>
            <a:prstDash val="solid"/>
          </a:ln>
        </p:spPr>
        <p:txBody>
          <a:bodyPr/>
          <a:lstStyle/>
          <a:p>
            <a:endParaRPr lang="ja-JP" altLang="en-US"/>
          </a:p>
        </p:txBody>
      </p:sp>
      <p:sp>
        <p:nvSpPr>
          <p:cNvPr id="5" name="Shape 3"/>
          <p:cNvSpPr/>
          <p:nvPr/>
        </p:nvSpPr>
        <p:spPr>
          <a:xfrm>
            <a:off x="996696" y="1600200"/>
            <a:ext cx="594360" cy="594360"/>
          </a:xfrm>
          <a:prstGeom prst="ellipse">
            <a:avLst/>
          </a:prstGeom>
          <a:solidFill>
            <a:srgbClr val="2E8B57"/>
          </a:solidFill>
          <a:ln w="12700">
            <a:solidFill>
              <a:srgbClr val="2E8B57"/>
            </a:solidFill>
            <a:prstDash val="solid"/>
          </a:ln>
        </p:spPr>
        <p:txBody>
          <a:bodyPr/>
          <a:lstStyle/>
          <a:p>
            <a:endParaRPr lang="ja-JP" altLang="en-US"/>
          </a:p>
        </p:txBody>
      </p:sp>
      <p:sp>
        <p:nvSpPr>
          <p:cNvPr id="6" name="Text 4"/>
          <p:cNvSpPr/>
          <p:nvPr/>
        </p:nvSpPr>
        <p:spPr>
          <a:xfrm>
            <a:off x="996696" y="1773936"/>
            <a:ext cx="594360" cy="16459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640080" y="2350008"/>
            <a:ext cx="1307592" cy="292608"/>
          </a:xfrm>
          <a:prstGeom prst="rect">
            <a:avLst/>
          </a:prstGeom>
          <a:noFill/>
          <a:ln/>
        </p:spPr>
        <p:txBody>
          <a:bodyPr wrap="square" lIns="0" tIns="0" rIns="0" bIns="0" rtlCol="0" anchor="ctr">
            <a:normAutofit/>
          </a:bodyPr>
          <a:lstStyle/>
          <a:p>
            <a:pPr marL="0" indent="0" algn="ctr">
              <a:buNone/>
            </a:pPr>
            <a:r>
              <a:rPr lang="en-US" sz="1320" b="1" dirty="0">
                <a:solidFill>
                  <a:srgbClr val="17324D"/>
                </a:solidFill>
              </a:rPr>
              <a:t>Train arrives</a:t>
            </a:r>
            <a:endParaRPr lang="en-US" sz="1320" dirty="0"/>
          </a:p>
        </p:txBody>
      </p:sp>
      <p:sp>
        <p:nvSpPr>
          <p:cNvPr id="8" name="Text 6"/>
          <p:cNvSpPr/>
          <p:nvPr/>
        </p:nvSpPr>
        <p:spPr>
          <a:xfrm>
            <a:off x="621792" y="2679192"/>
            <a:ext cx="1344168" cy="457200"/>
          </a:xfrm>
          <a:prstGeom prst="rect">
            <a:avLst/>
          </a:prstGeom>
          <a:noFill/>
          <a:ln/>
        </p:spPr>
        <p:txBody>
          <a:bodyPr wrap="square" lIns="0" tIns="0" rIns="0" bIns="0" rtlCol="0" anchor="ctr">
            <a:normAutofit/>
          </a:bodyPr>
          <a:lstStyle/>
          <a:p>
            <a:pPr marL="0" indent="0" algn="ctr">
              <a:buNone/>
            </a:pPr>
            <a:r>
              <a:rPr lang="en-US" sz="950" dirty="0">
                <a:solidFill>
                  <a:srgbClr val="6B7280"/>
                </a:solidFill>
              </a:rPr>
              <a:t>A group size is generated from a normal distribution.</a:t>
            </a:r>
            <a:endParaRPr lang="en-US" sz="950" dirty="0"/>
          </a:p>
        </p:txBody>
      </p:sp>
      <p:sp>
        <p:nvSpPr>
          <p:cNvPr id="9" name="Shape 7"/>
          <p:cNvSpPr/>
          <p:nvPr/>
        </p:nvSpPr>
        <p:spPr>
          <a:xfrm>
            <a:off x="2112264" y="2331720"/>
            <a:ext cx="722376" cy="0"/>
          </a:xfrm>
          <a:prstGeom prst="line">
            <a:avLst/>
          </a:prstGeom>
          <a:noFill/>
          <a:ln w="25400">
            <a:solidFill>
              <a:srgbClr val="5C7C99"/>
            </a:solidFill>
            <a:prstDash val="solid"/>
            <a:headEnd type="none"/>
            <a:tailEnd type="triangle"/>
          </a:ln>
        </p:spPr>
        <p:txBody>
          <a:bodyPr/>
          <a:lstStyle/>
          <a:p>
            <a:endParaRPr lang="ja-JP" altLang="en-US"/>
          </a:p>
        </p:txBody>
      </p:sp>
      <p:sp>
        <p:nvSpPr>
          <p:cNvPr id="10" name="Shape 8"/>
          <p:cNvSpPr/>
          <p:nvPr/>
        </p:nvSpPr>
        <p:spPr>
          <a:xfrm>
            <a:off x="2907792" y="1417320"/>
            <a:ext cx="1581912" cy="1874520"/>
          </a:xfrm>
          <a:prstGeom prst="roundRect">
            <a:avLst/>
          </a:prstGeom>
          <a:solidFill>
            <a:srgbClr val="FFFFFF"/>
          </a:solidFill>
          <a:ln w="12700">
            <a:solidFill>
              <a:srgbClr val="D6E2EC"/>
            </a:solidFill>
            <a:prstDash val="solid"/>
          </a:ln>
        </p:spPr>
        <p:txBody>
          <a:bodyPr/>
          <a:lstStyle/>
          <a:p>
            <a:endParaRPr lang="ja-JP" altLang="en-US"/>
          </a:p>
        </p:txBody>
      </p:sp>
      <p:sp>
        <p:nvSpPr>
          <p:cNvPr id="11" name="Shape 9"/>
          <p:cNvSpPr/>
          <p:nvPr/>
        </p:nvSpPr>
        <p:spPr>
          <a:xfrm>
            <a:off x="3401568" y="1600200"/>
            <a:ext cx="594360" cy="594360"/>
          </a:xfrm>
          <a:prstGeom prst="ellipse">
            <a:avLst/>
          </a:prstGeom>
          <a:solidFill>
            <a:srgbClr val="2E8B57"/>
          </a:solidFill>
          <a:ln w="12700">
            <a:solidFill>
              <a:srgbClr val="2E8B57"/>
            </a:solidFill>
            <a:prstDash val="solid"/>
          </a:ln>
        </p:spPr>
        <p:txBody>
          <a:bodyPr/>
          <a:lstStyle/>
          <a:p>
            <a:endParaRPr lang="ja-JP" altLang="en-US"/>
          </a:p>
        </p:txBody>
      </p:sp>
      <p:sp>
        <p:nvSpPr>
          <p:cNvPr id="12" name="Text 10"/>
          <p:cNvSpPr/>
          <p:nvPr/>
        </p:nvSpPr>
        <p:spPr>
          <a:xfrm>
            <a:off x="3401568" y="1773936"/>
            <a:ext cx="594360" cy="16459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3044952" y="2350008"/>
            <a:ext cx="1307592" cy="292608"/>
          </a:xfrm>
          <a:prstGeom prst="rect">
            <a:avLst/>
          </a:prstGeom>
          <a:noFill/>
          <a:ln/>
        </p:spPr>
        <p:txBody>
          <a:bodyPr wrap="square" lIns="0" tIns="0" rIns="0" bIns="0" rtlCol="0" anchor="ctr">
            <a:normAutofit/>
          </a:bodyPr>
          <a:lstStyle/>
          <a:p>
            <a:pPr marL="0" indent="0" algn="ctr">
              <a:buNone/>
            </a:pPr>
            <a:r>
              <a:rPr lang="en-US" sz="1320" b="1" dirty="0">
                <a:solidFill>
                  <a:srgbClr val="17324D"/>
                </a:solidFill>
              </a:rPr>
              <a:t>Walking choice</a:t>
            </a:r>
            <a:endParaRPr lang="en-US" sz="1320" dirty="0"/>
          </a:p>
        </p:txBody>
      </p:sp>
      <p:sp>
        <p:nvSpPr>
          <p:cNvPr id="14" name="Text 12"/>
          <p:cNvSpPr/>
          <p:nvPr/>
        </p:nvSpPr>
        <p:spPr>
          <a:xfrm>
            <a:off x="3026664" y="2679192"/>
            <a:ext cx="1344168" cy="457200"/>
          </a:xfrm>
          <a:prstGeom prst="rect">
            <a:avLst/>
          </a:prstGeom>
          <a:noFill/>
          <a:ln/>
        </p:spPr>
        <p:txBody>
          <a:bodyPr wrap="square" lIns="0" tIns="0" rIns="0" bIns="0" rtlCol="0" anchor="ctr">
            <a:normAutofit/>
          </a:bodyPr>
          <a:lstStyle/>
          <a:p>
            <a:pPr marL="0" indent="0" algn="ctr">
              <a:buNone/>
            </a:pPr>
            <a:r>
              <a:rPr lang="en-US" sz="950" dirty="0">
                <a:solidFill>
                  <a:srgbClr val="6B7280"/>
                </a:solidFill>
              </a:rPr>
              <a:t>Each student independently walks with probability 0.10.</a:t>
            </a:r>
            <a:endParaRPr lang="en-US" sz="950" dirty="0"/>
          </a:p>
        </p:txBody>
      </p:sp>
      <p:sp>
        <p:nvSpPr>
          <p:cNvPr id="15" name="Shape 13"/>
          <p:cNvSpPr/>
          <p:nvPr/>
        </p:nvSpPr>
        <p:spPr>
          <a:xfrm>
            <a:off x="4517136" y="2331720"/>
            <a:ext cx="722376" cy="0"/>
          </a:xfrm>
          <a:prstGeom prst="line">
            <a:avLst/>
          </a:prstGeom>
          <a:noFill/>
          <a:ln w="25400">
            <a:solidFill>
              <a:srgbClr val="5C7C99"/>
            </a:solidFill>
            <a:prstDash val="solid"/>
            <a:headEnd type="none"/>
            <a:tailEnd type="triangle"/>
          </a:ln>
        </p:spPr>
        <p:txBody>
          <a:bodyPr/>
          <a:lstStyle/>
          <a:p>
            <a:endParaRPr lang="ja-JP" altLang="en-US"/>
          </a:p>
        </p:txBody>
      </p:sp>
      <p:sp>
        <p:nvSpPr>
          <p:cNvPr id="16" name="Shape 14"/>
          <p:cNvSpPr/>
          <p:nvPr/>
        </p:nvSpPr>
        <p:spPr>
          <a:xfrm>
            <a:off x="5321808" y="1417320"/>
            <a:ext cx="1581912" cy="1874520"/>
          </a:xfrm>
          <a:prstGeom prst="roundRect">
            <a:avLst/>
          </a:prstGeom>
          <a:solidFill>
            <a:srgbClr val="FFFFFF"/>
          </a:solidFill>
          <a:ln w="12700">
            <a:solidFill>
              <a:srgbClr val="D6E2EC"/>
            </a:solidFill>
            <a:prstDash val="solid"/>
          </a:ln>
        </p:spPr>
        <p:txBody>
          <a:bodyPr/>
          <a:lstStyle/>
          <a:p>
            <a:endParaRPr lang="ja-JP" altLang="en-US"/>
          </a:p>
        </p:txBody>
      </p:sp>
      <p:sp>
        <p:nvSpPr>
          <p:cNvPr id="17" name="Shape 15"/>
          <p:cNvSpPr/>
          <p:nvPr/>
        </p:nvSpPr>
        <p:spPr>
          <a:xfrm>
            <a:off x="5815584" y="1600200"/>
            <a:ext cx="594360" cy="594360"/>
          </a:xfrm>
          <a:prstGeom prst="ellipse">
            <a:avLst/>
          </a:prstGeom>
          <a:solidFill>
            <a:srgbClr val="2367A7"/>
          </a:solidFill>
          <a:ln w="12700">
            <a:solidFill>
              <a:srgbClr val="2367A7"/>
            </a:solidFill>
            <a:prstDash val="solid"/>
          </a:ln>
        </p:spPr>
        <p:txBody>
          <a:bodyPr/>
          <a:lstStyle/>
          <a:p>
            <a:endParaRPr lang="ja-JP" altLang="en-US"/>
          </a:p>
        </p:txBody>
      </p:sp>
      <p:sp>
        <p:nvSpPr>
          <p:cNvPr id="18" name="Text 16"/>
          <p:cNvSpPr/>
          <p:nvPr/>
        </p:nvSpPr>
        <p:spPr>
          <a:xfrm>
            <a:off x="5815584" y="1773936"/>
            <a:ext cx="594360" cy="16459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5458968" y="2350008"/>
            <a:ext cx="1307592" cy="292608"/>
          </a:xfrm>
          <a:prstGeom prst="rect">
            <a:avLst/>
          </a:prstGeom>
          <a:noFill/>
          <a:ln/>
        </p:spPr>
        <p:txBody>
          <a:bodyPr wrap="square" lIns="0" tIns="0" rIns="0" bIns="0" rtlCol="0" anchor="ctr">
            <a:normAutofit/>
          </a:bodyPr>
          <a:lstStyle/>
          <a:p>
            <a:pPr marL="0" indent="0" algn="ctr">
              <a:buNone/>
            </a:pPr>
            <a:r>
              <a:rPr lang="en-US" sz="1320" b="1" dirty="0">
                <a:solidFill>
                  <a:srgbClr val="17324D"/>
                </a:solidFill>
              </a:rPr>
              <a:t>Join queue</a:t>
            </a:r>
            <a:endParaRPr lang="en-US" sz="1320" dirty="0"/>
          </a:p>
        </p:txBody>
      </p:sp>
      <p:sp>
        <p:nvSpPr>
          <p:cNvPr id="20" name="Text 18"/>
          <p:cNvSpPr/>
          <p:nvPr/>
        </p:nvSpPr>
        <p:spPr>
          <a:xfrm>
            <a:off x="5440680" y="2679192"/>
            <a:ext cx="1344168" cy="457200"/>
          </a:xfrm>
          <a:prstGeom prst="rect">
            <a:avLst/>
          </a:prstGeom>
          <a:noFill/>
          <a:ln/>
        </p:spPr>
        <p:txBody>
          <a:bodyPr wrap="square" lIns="0" tIns="0" rIns="0" bIns="0" rtlCol="0" anchor="ctr">
            <a:normAutofit/>
          </a:bodyPr>
          <a:lstStyle/>
          <a:p>
            <a:pPr marL="0" indent="0" algn="ctr">
              <a:buNone/>
            </a:pPr>
            <a:r>
              <a:rPr lang="en-US" sz="950" dirty="0">
                <a:solidFill>
                  <a:srgbClr val="6B7280"/>
                </a:solidFill>
              </a:rPr>
              <a:t>Non-walking students are stored by arrival minute.</a:t>
            </a:r>
            <a:endParaRPr lang="en-US" sz="950" dirty="0"/>
          </a:p>
        </p:txBody>
      </p:sp>
      <p:sp>
        <p:nvSpPr>
          <p:cNvPr id="21" name="Shape 19"/>
          <p:cNvSpPr/>
          <p:nvPr/>
        </p:nvSpPr>
        <p:spPr>
          <a:xfrm>
            <a:off x="6931152" y="2331720"/>
            <a:ext cx="722376" cy="0"/>
          </a:xfrm>
          <a:prstGeom prst="line">
            <a:avLst/>
          </a:prstGeom>
          <a:noFill/>
          <a:ln w="25400">
            <a:solidFill>
              <a:srgbClr val="5C7C99"/>
            </a:solidFill>
            <a:prstDash val="solid"/>
            <a:headEnd type="none"/>
            <a:tailEnd type="triangle"/>
          </a:ln>
        </p:spPr>
        <p:txBody>
          <a:bodyPr/>
          <a:lstStyle/>
          <a:p>
            <a:endParaRPr lang="ja-JP" altLang="en-US"/>
          </a:p>
        </p:txBody>
      </p:sp>
      <p:sp>
        <p:nvSpPr>
          <p:cNvPr id="22" name="Shape 20"/>
          <p:cNvSpPr/>
          <p:nvPr/>
        </p:nvSpPr>
        <p:spPr>
          <a:xfrm>
            <a:off x="7735824" y="1417320"/>
            <a:ext cx="1581912" cy="1874520"/>
          </a:xfrm>
          <a:prstGeom prst="roundRect">
            <a:avLst/>
          </a:prstGeom>
          <a:solidFill>
            <a:srgbClr val="FFFFFF"/>
          </a:solidFill>
          <a:ln w="12700">
            <a:solidFill>
              <a:srgbClr val="D6E2EC"/>
            </a:solidFill>
            <a:prstDash val="solid"/>
          </a:ln>
        </p:spPr>
        <p:txBody>
          <a:bodyPr/>
          <a:lstStyle/>
          <a:p>
            <a:endParaRPr lang="ja-JP" altLang="en-US"/>
          </a:p>
        </p:txBody>
      </p:sp>
      <p:sp>
        <p:nvSpPr>
          <p:cNvPr id="23" name="Shape 21"/>
          <p:cNvSpPr/>
          <p:nvPr/>
        </p:nvSpPr>
        <p:spPr>
          <a:xfrm>
            <a:off x="8229600" y="1600200"/>
            <a:ext cx="594360" cy="594360"/>
          </a:xfrm>
          <a:prstGeom prst="ellipse">
            <a:avLst/>
          </a:prstGeom>
          <a:solidFill>
            <a:srgbClr val="E07A2D"/>
          </a:solidFill>
          <a:ln w="12700">
            <a:solidFill>
              <a:srgbClr val="E07A2D"/>
            </a:solidFill>
            <a:prstDash val="solid"/>
          </a:ln>
        </p:spPr>
        <p:txBody>
          <a:bodyPr/>
          <a:lstStyle/>
          <a:p>
            <a:endParaRPr lang="ja-JP" altLang="en-US"/>
          </a:p>
        </p:txBody>
      </p:sp>
      <p:sp>
        <p:nvSpPr>
          <p:cNvPr id="24" name="Text 22"/>
          <p:cNvSpPr/>
          <p:nvPr/>
        </p:nvSpPr>
        <p:spPr>
          <a:xfrm>
            <a:off x="8229600" y="1773936"/>
            <a:ext cx="594360" cy="16459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5" name="Text 23"/>
          <p:cNvSpPr/>
          <p:nvPr/>
        </p:nvSpPr>
        <p:spPr>
          <a:xfrm>
            <a:off x="7872984" y="2350008"/>
            <a:ext cx="1307592" cy="292608"/>
          </a:xfrm>
          <a:prstGeom prst="rect">
            <a:avLst/>
          </a:prstGeom>
          <a:noFill/>
          <a:ln/>
        </p:spPr>
        <p:txBody>
          <a:bodyPr wrap="square" lIns="0" tIns="0" rIns="0" bIns="0" rtlCol="0" anchor="ctr">
            <a:normAutofit/>
          </a:bodyPr>
          <a:lstStyle/>
          <a:p>
            <a:pPr marL="0" indent="0" algn="ctr">
              <a:buNone/>
            </a:pPr>
            <a:r>
              <a:rPr lang="en-US" sz="1320" b="1" dirty="0">
                <a:solidFill>
                  <a:srgbClr val="17324D"/>
                </a:solidFill>
              </a:rPr>
              <a:t>Bus arrives</a:t>
            </a:r>
            <a:endParaRPr lang="en-US" sz="1320" dirty="0"/>
          </a:p>
        </p:txBody>
      </p:sp>
      <p:sp>
        <p:nvSpPr>
          <p:cNvPr id="26" name="Text 24"/>
          <p:cNvSpPr/>
          <p:nvPr/>
        </p:nvSpPr>
        <p:spPr>
          <a:xfrm>
            <a:off x="7854696" y="2679192"/>
            <a:ext cx="1344168" cy="457200"/>
          </a:xfrm>
          <a:prstGeom prst="rect">
            <a:avLst/>
          </a:prstGeom>
          <a:noFill/>
          <a:ln/>
        </p:spPr>
        <p:txBody>
          <a:bodyPr wrap="square" lIns="0" tIns="0" rIns="0" bIns="0" rtlCol="0" anchor="ctr">
            <a:normAutofit/>
          </a:bodyPr>
          <a:lstStyle/>
          <a:p>
            <a:pPr marL="0" indent="0" algn="ctr">
              <a:buNone/>
            </a:pPr>
            <a:r>
              <a:rPr lang="en-US" sz="950" dirty="0">
                <a:solidFill>
                  <a:srgbClr val="6B7280"/>
                </a:solidFill>
              </a:rPr>
              <a:t>Capacity and delay vary in every simulation run.</a:t>
            </a:r>
            <a:endParaRPr lang="en-US" sz="950" dirty="0"/>
          </a:p>
        </p:txBody>
      </p:sp>
      <p:sp>
        <p:nvSpPr>
          <p:cNvPr id="27" name="Shape 25"/>
          <p:cNvSpPr/>
          <p:nvPr/>
        </p:nvSpPr>
        <p:spPr>
          <a:xfrm>
            <a:off x="9345168" y="2331720"/>
            <a:ext cx="722376" cy="0"/>
          </a:xfrm>
          <a:prstGeom prst="line">
            <a:avLst/>
          </a:prstGeom>
          <a:noFill/>
          <a:ln w="25400">
            <a:solidFill>
              <a:srgbClr val="5C7C99"/>
            </a:solidFill>
            <a:prstDash val="solid"/>
            <a:headEnd type="none"/>
            <a:tailEnd type="triangle"/>
          </a:ln>
        </p:spPr>
        <p:txBody>
          <a:bodyPr/>
          <a:lstStyle/>
          <a:p>
            <a:endParaRPr lang="ja-JP" altLang="en-US"/>
          </a:p>
        </p:txBody>
      </p:sp>
      <p:sp>
        <p:nvSpPr>
          <p:cNvPr id="28" name="Shape 26"/>
          <p:cNvSpPr/>
          <p:nvPr/>
        </p:nvSpPr>
        <p:spPr>
          <a:xfrm>
            <a:off x="10149840" y="1417320"/>
            <a:ext cx="1581912" cy="1874520"/>
          </a:xfrm>
          <a:prstGeom prst="roundRect">
            <a:avLst/>
          </a:prstGeom>
          <a:solidFill>
            <a:srgbClr val="FFFFFF"/>
          </a:solidFill>
          <a:ln w="12700">
            <a:solidFill>
              <a:srgbClr val="D6E2EC"/>
            </a:solidFill>
            <a:prstDash val="solid"/>
          </a:ln>
        </p:spPr>
        <p:txBody>
          <a:bodyPr/>
          <a:lstStyle/>
          <a:p>
            <a:endParaRPr lang="ja-JP" altLang="en-US"/>
          </a:p>
        </p:txBody>
      </p:sp>
      <p:sp>
        <p:nvSpPr>
          <p:cNvPr id="29" name="Shape 27"/>
          <p:cNvSpPr/>
          <p:nvPr/>
        </p:nvSpPr>
        <p:spPr>
          <a:xfrm>
            <a:off x="10643616" y="1600200"/>
            <a:ext cx="594360" cy="594360"/>
          </a:xfrm>
          <a:prstGeom prst="ellipse">
            <a:avLst/>
          </a:prstGeom>
          <a:solidFill>
            <a:srgbClr val="E07A2D"/>
          </a:solidFill>
          <a:ln w="12700">
            <a:solidFill>
              <a:srgbClr val="E07A2D"/>
            </a:solidFill>
            <a:prstDash val="solid"/>
          </a:ln>
        </p:spPr>
        <p:txBody>
          <a:bodyPr/>
          <a:lstStyle/>
          <a:p>
            <a:endParaRPr lang="ja-JP" altLang="en-US"/>
          </a:p>
        </p:txBody>
      </p:sp>
      <p:sp>
        <p:nvSpPr>
          <p:cNvPr id="30" name="Text 28"/>
          <p:cNvSpPr/>
          <p:nvPr/>
        </p:nvSpPr>
        <p:spPr>
          <a:xfrm>
            <a:off x="10643616" y="1773936"/>
            <a:ext cx="594360" cy="16459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1" name="Text 29"/>
          <p:cNvSpPr/>
          <p:nvPr/>
        </p:nvSpPr>
        <p:spPr>
          <a:xfrm>
            <a:off x="10287000" y="2350008"/>
            <a:ext cx="1307592" cy="292608"/>
          </a:xfrm>
          <a:prstGeom prst="rect">
            <a:avLst/>
          </a:prstGeom>
          <a:noFill/>
          <a:ln/>
        </p:spPr>
        <p:txBody>
          <a:bodyPr wrap="square" lIns="0" tIns="0" rIns="0" bIns="0" rtlCol="0" anchor="ctr">
            <a:normAutofit/>
          </a:bodyPr>
          <a:lstStyle/>
          <a:p>
            <a:pPr marL="0" indent="0" algn="ctr">
              <a:buNone/>
            </a:pPr>
            <a:r>
              <a:rPr lang="en-US" sz="1320" b="1" dirty="0">
                <a:solidFill>
                  <a:srgbClr val="17324D"/>
                </a:solidFill>
              </a:rPr>
              <a:t>FIFO boarding</a:t>
            </a:r>
            <a:endParaRPr lang="en-US" sz="1320" dirty="0"/>
          </a:p>
        </p:txBody>
      </p:sp>
      <p:sp>
        <p:nvSpPr>
          <p:cNvPr id="32" name="Text 30"/>
          <p:cNvSpPr/>
          <p:nvPr/>
        </p:nvSpPr>
        <p:spPr>
          <a:xfrm>
            <a:off x="10268712" y="2679192"/>
            <a:ext cx="1344168" cy="457200"/>
          </a:xfrm>
          <a:prstGeom prst="rect">
            <a:avLst/>
          </a:prstGeom>
          <a:noFill/>
          <a:ln/>
        </p:spPr>
        <p:txBody>
          <a:bodyPr wrap="square" lIns="0" tIns="0" rIns="0" bIns="0" rtlCol="0" anchor="ctr">
            <a:normAutofit/>
          </a:bodyPr>
          <a:lstStyle/>
          <a:p>
            <a:pPr marL="0" indent="0" algn="ctr">
              <a:buNone/>
            </a:pPr>
            <a:r>
              <a:rPr lang="en-US" sz="950" dirty="0">
                <a:solidFill>
                  <a:srgbClr val="6B7280"/>
                </a:solidFill>
              </a:rPr>
              <a:t>Earliest arrivals board first; others remain.</a:t>
            </a:r>
            <a:endParaRPr lang="en-US" sz="950" dirty="0"/>
          </a:p>
        </p:txBody>
      </p:sp>
      <p:sp>
        <p:nvSpPr>
          <p:cNvPr id="33" name="Shape 31"/>
          <p:cNvSpPr/>
          <p:nvPr/>
        </p:nvSpPr>
        <p:spPr>
          <a:xfrm>
            <a:off x="713232" y="3959352"/>
            <a:ext cx="10744200" cy="1572768"/>
          </a:xfrm>
          <a:prstGeom prst="roundRect">
            <a:avLst/>
          </a:prstGeom>
          <a:solidFill>
            <a:srgbClr val="EAF2F8"/>
          </a:solidFill>
          <a:ln w="12700">
            <a:solidFill>
              <a:srgbClr val="D6E2EC"/>
            </a:solidFill>
            <a:prstDash val="solid"/>
          </a:ln>
        </p:spPr>
        <p:txBody>
          <a:bodyPr/>
          <a:lstStyle/>
          <a:p>
            <a:endParaRPr lang="ja-JP" altLang="en-US"/>
          </a:p>
        </p:txBody>
      </p:sp>
      <p:sp>
        <p:nvSpPr>
          <p:cNvPr id="34" name="Text 32"/>
          <p:cNvSpPr/>
          <p:nvPr/>
        </p:nvSpPr>
        <p:spPr>
          <a:xfrm>
            <a:off x="1078992" y="4270248"/>
            <a:ext cx="6400800" cy="310896"/>
          </a:xfrm>
          <a:prstGeom prst="rect">
            <a:avLst/>
          </a:prstGeom>
          <a:noFill/>
          <a:ln/>
        </p:spPr>
        <p:txBody>
          <a:bodyPr wrap="square" lIns="0" tIns="0" rIns="0" bIns="0" rtlCol="0" anchor="ctr"/>
          <a:lstStyle/>
          <a:p>
            <a:r>
              <a:rPr lang="en-US" sz="1600" dirty="0" err="1">
                <a:latin typeface="Cambria" panose="02040503050406030204" pitchFamily="18" charset="0"/>
                <a:ea typeface="Cambria" panose="02040503050406030204" pitchFamily="18" charset="0"/>
              </a:rPr>
              <a:t>student_arrivals</a:t>
            </a:r>
            <a:r>
              <a:rPr lang="en-US" sz="1600" dirty="0">
                <a:latin typeface="Cambria" panose="02040503050406030204" pitchFamily="18" charset="0"/>
                <a:ea typeface="Cambria" panose="02040503050406030204" pitchFamily="18" charset="0"/>
              </a:rPr>
              <a:t> = [arrival_time_1, arrival_time_2, arrival_time_3, ...]</a:t>
            </a:r>
          </a:p>
        </p:txBody>
      </p:sp>
      <p:sp>
        <p:nvSpPr>
          <p:cNvPr id="35" name="Text 33"/>
          <p:cNvSpPr/>
          <p:nvPr/>
        </p:nvSpPr>
        <p:spPr>
          <a:xfrm>
            <a:off x="1078992" y="4745736"/>
            <a:ext cx="5760720" cy="292608"/>
          </a:xfrm>
          <a:prstGeom prst="rect">
            <a:avLst/>
          </a:prstGeom>
          <a:noFill/>
          <a:ln/>
        </p:spPr>
        <p:txBody>
          <a:bodyPr wrap="square" lIns="0" tIns="0" rIns="0" bIns="0" rtlCol="0" anchor="ctr"/>
          <a:lstStyle/>
          <a:p>
            <a:pPr marL="0" indent="0">
              <a:buNone/>
            </a:pPr>
            <a:r>
              <a:rPr lang="en-US" sz="1400" dirty="0">
                <a:solidFill>
                  <a:srgbClr val="2367A7"/>
                </a:solidFill>
                <a:latin typeface="Courier New" pitchFamily="34" charset="0"/>
                <a:ea typeface="Courier New" pitchFamily="34" charset="-122"/>
                <a:cs typeface="Courier New" pitchFamily="34" charset="-120"/>
              </a:rPr>
              <a:t>Wait time = bus arrival slot − student arrival slot</a:t>
            </a:r>
            <a:endParaRPr lang="en-US" sz="1400" dirty="0"/>
          </a:p>
        </p:txBody>
      </p:sp>
      <p:sp>
        <p:nvSpPr>
          <p:cNvPr id="36" name="Text 34"/>
          <p:cNvSpPr/>
          <p:nvPr/>
        </p:nvSpPr>
        <p:spPr>
          <a:xfrm>
            <a:off x="8257032" y="4261104"/>
            <a:ext cx="1828800" cy="228600"/>
          </a:xfrm>
          <a:prstGeom prst="rect">
            <a:avLst/>
          </a:prstGeom>
          <a:noFill/>
          <a:ln/>
        </p:spPr>
        <p:txBody>
          <a:bodyPr wrap="square" lIns="0" tIns="0" rIns="0" bIns="0" rtlCol="0" anchor="ctr"/>
          <a:lstStyle/>
          <a:p>
            <a:pPr marL="0" indent="0">
              <a:buNone/>
            </a:pPr>
            <a:r>
              <a:rPr lang="en-US" sz="1300" b="1" dirty="0">
                <a:solidFill>
                  <a:srgbClr val="17324D"/>
                </a:solidFill>
              </a:rPr>
              <a:t>Why this matters</a:t>
            </a:r>
            <a:endParaRPr lang="en-US" sz="1300" dirty="0"/>
          </a:p>
        </p:txBody>
      </p:sp>
      <p:sp>
        <p:nvSpPr>
          <p:cNvPr id="37" name="Text 35"/>
          <p:cNvSpPr/>
          <p:nvPr/>
        </p:nvSpPr>
        <p:spPr>
          <a:xfrm>
            <a:off x="8257032" y="4599432"/>
            <a:ext cx="2606040" cy="640080"/>
          </a:xfrm>
          <a:prstGeom prst="rect">
            <a:avLst/>
          </a:prstGeom>
          <a:noFill/>
          <a:ln/>
        </p:spPr>
        <p:txBody>
          <a:bodyPr wrap="square" lIns="0" tIns="0" rIns="0" bIns="0" rtlCol="0" anchor="ctr">
            <a:normAutofit/>
          </a:bodyPr>
          <a:lstStyle/>
          <a:p>
            <a:pPr marL="0" indent="0">
              <a:buNone/>
            </a:pPr>
            <a:r>
              <a:rPr lang="en-US" sz="1100" dirty="0">
                <a:solidFill>
                  <a:srgbClr val="263238"/>
                </a:solidFill>
              </a:rPr>
              <a:t>The model measures average wait, maximum wait, queue peaks, transported students, and remaining students.</a:t>
            </a:r>
            <a:endParaRPr lang="en-US" sz="1100" dirty="0"/>
          </a:p>
        </p:txBody>
      </p:sp>
      <p:sp>
        <p:nvSpPr>
          <p:cNvPr id="38"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47472"/>
            <a:ext cx="11155680" cy="438912"/>
          </a:xfrm>
          <a:prstGeom prst="rect">
            <a:avLst/>
          </a:prstGeom>
          <a:noFill/>
          <a:ln/>
        </p:spPr>
        <p:txBody>
          <a:bodyPr wrap="square" lIns="0" tIns="0" rIns="0" bIns="0" rtlCol="0" anchor="ctr"/>
          <a:lstStyle/>
          <a:p>
            <a:pPr marL="0" indent="0">
              <a:buNone/>
            </a:pPr>
            <a:r>
              <a:rPr lang="en-US" sz="2500" b="1" dirty="0">
                <a:solidFill>
                  <a:srgbClr val="17324D"/>
                </a:solidFill>
                <a:latin typeface="Aptos Display" pitchFamily="34" charset="0"/>
                <a:ea typeface="Aptos Display" pitchFamily="34" charset="-122"/>
                <a:cs typeface="Aptos Display" pitchFamily="34" charset="-120"/>
              </a:rPr>
              <a:t>4. Monte Carlo Simulation</a:t>
            </a:r>
            <a:endParaRPr lang="en-US" sz="2500" dirty="0"/>
          </a:p>
        </p:txBody>
      </p:sp>
      <p:sp>
        <p:nvSpPr>
          <p:cNvPr id="3" name="Text 1"/>
          <p:cNvSpPr/>
          <p:nvPr/>
        </p:nvSpPr>
        <p:spPr>
          <a:xfrm>
            <a:off x="530352" y="841248"/>
            <a:ext cx="10881360" cy="237744"/>
          </a:xfrm>
          <a:prstGeom prst="rect">
            <a:avLst/>
          </a:prstGeom>
          <a:noFill/>
          <a:ln/>
        </p:spPr>
        <p:txBody>
          <a:bodyPr wrap="square" lIns="0" tIns="0" rIns="0" bIns="0" rtlCol="0" anchor="ctr"/>
          <a:lstStyle/>
          <a:p>
            <a:pPr marL="0" indent="0">
              <a:buNone/>
            </a:pPr>
            <a:r>
              <a:rPr lang="en-US" sz="1150" dirty="0">
                <a:solidFill>
                  <a:srgbClr val="6B7280"/>
                </a:solidFill>
              </a:rPr>
              <a:t>Why the same morning is simulated 10,000 times</a:t>
            </a:r>
            <a:endParaRPr lang="en-US" sz="1150" dirty="0"/>
          </a:p>
        </p:txBody>
      </p:sp>
      <p:sp>
        <p:nvSpPr>
          <p:cNvPr id="4" name="Shape 2"/>
          <p:cNvSpPr/>
          <p:nvPr/>
        </p:nvSpPr>
        <p:spPr>
          <a:xfrm>
            <a:off x="640080" y="1371600"/>
            <a:ext cx="3657600" cy="4389120"/>
          </a:xfrm>
          <a:prstGeom prst="roundRect">
            <a:avLst/>
          </a:prstGeom>
          <a:solidFill>
            <a:srgbClr val="FFFFFF"/>
          </a:solidFill>
          <a:ln w="12700">
            <a:solidFill>
              <a:srgbClr val="D6E2EC"/>
            </a:solidFill>
            <a:prstDash val="solid"/>
          </a:ln>
        </p:spPr>
        <p:txBody>
          <a:bodyPr/>
          <a:lstStyle/>
          <a:p>
            <a:endParaRPr lang="ja-JP" altLang="en-US"/>
          </a:p>
        </p:txBody>
      </p:sp>
      <p:sp>
        <p:nvSpPr>
          <p:cNvPr id="5" name="Text 3"/>
          <p:cNvSpPr/>
          <p:nvPr/>
        </p:nvSpPr>
        <p:spPr>
          <a:xfrm>
            <a:off x="960120" y="1755648"/>
            <a:ext cx="2971800" cy="292608"/>
          </a:xfrm>
          <a:prstGeom prst="rect">
            <a:avLst/>
          </a:prstGeom>
          <a:noFill/>
          <a:ln/>
        </p:spPr>
        <p:txBody>
          <a:bodyPr wrap="square" lIns="0" tIns="0" rIns="0" bIns="0" rtlCol="0" anchor="ctr"/>
          <a:lstStyle/>
          <a:p>
            <a:pPr marL="0" indent="0">
              <a:buNone/>
            </a:pPr>
            <a:r>
              <a:rPr lang="en-US" sz="1700" b="1" dirty="0">
                <a:solidFill>
                  <a:srgbClr val="17324D"/>
                </a:solidFill>
              </a:rPr>
              <a:t>Random elements in one run</a:t>
            </a:r>
            <a:endParaRPr lang="en-US" sz="1700" dirty="0"/>
          </a:p>
        </p:txBody>
      </p:sp>
      <p:sp>
        <p:nvSpPr>
          <p:cNvPr id="6" name="Shape 4"/>
          <p:cNvSpPr/>
          <p:nvPr/>
        </p:nvSpPr>
        <p:spPr>
          <a:xfrm>
            <a:off x="941832" y="2331720"/>
            <a:ext cx="2971800" cy="484632"/>
          </a:xfrm>
          <a:prstGeom prst="roundRect">
            <a:avLst/>
          </a:prstGeom>
          <a:solidFill>
            <a:srgbClr val="EEF7F1"/>
          </a:solidFill>
          <a:ln w="12700">
            <a:solidFill>
              <a:srgbClr val="CFE9D8"/>
            </a:solidFill>
            <a:prstDash val="solid"/>
          </a:ln>
        </p:spPr>
        <p:txBody>
          <a:bodyPr/>
          <a:lstStyle/>
          <a:p>
            <a:endParaRPr lang="ja-JP" altLang="en-US"/>
          </a:p>
        </p:txBody>
      </p:sp>
      <p:sp>
        <p:nvSpPr>
          <p:cNvPr id="7" name="Text 5"/>
          <p:cNvSpPr/>
          <p:nvPr/>
        </p:nvSpPr>
        <p:spPr>
          <a:xfrm>
            <a:off x="1088136" y="2459736"/>
            <a:ext cx="1417320" cy="182880"/>
          </a:xfrm>
          <a:prstGeom prst="rect">
            <a:avLst/>
          </a:prstGeom>
          <a:noFill/>
          <a:ln/>
        </p:spPr>
        <p:txBody>
          <a:bodyPr wrap="square" lIns="0" tIns="0" rIns="0" bIns="0" rtlCol="0" anchor="ctr"/>
          <a:lstStyle/>
          <a:p>
            <a:pPr marL="0" indent="0">
              <a:buNone/>
            </a:pPr>
            <a:r>
              <a:rPr lang="en-US" sz="1150" b="1" dirty="0">
                <a:solidFill>
                  <a:srgbClr val="17324D"/>
                </a:solidFill>
              </a:rPr>
              <a:t>Student arrivals</a:t>
            </a:r>
            <a:endParaRPr lang="en-US" sz="1150" dirty="0"/>
          </a:p>
        </p:txBody>
      </p:sp>
      <p:sp>
        <p:nvSpPr>
          <p:cNvPr id="8" name="Text 6"/>
          <p:cNvSpPr/>
          <p:nvPr/>
        </p:nvSpPr>
        <p:spPr>
          <a:xfrm>
            <a:off x="2423160" y="2459736"/>
            <a:ext cx="1280160" cy="182880"/>
          </a:xfrm>
          <a:prstGeom prst="rect">
            <a:avLst/>
          </a:prstGeom>
          <a:noFill/>
          <a:ln/>
        </p:spPr>
        <p:txBody>
          <a:bodyPr wrap="square" lIns="0" tIns="0" rIns="0" bIns="0" rtlCol="0" anchor="ctr"/>
          <a:lstStyle/>
          <a:p>
            <a:pPr marL="0" indent="0" algn="r">
              <a:buNone/>
            </a:pPr>
            <a:r>
              <a:rPr lang="en-US" sz="1100" dirty="0">
                <a:solidFill>
                  <a:srgbClr val="6B7280"/>
                </a:solidFill>
              </a:rPr>
              <a:t>Normal distribution</a:t>
            </a:r>
            <a:endParaRPr lang="en-US" sz="1100" dirty="0"/>
          </a:p>
        </p:txBody>
      </p:sp>
      <p:sp>
        <p:nvSpPr>
          <p:cNvPr id="9" name="Shape 7"/>
          <p:cNvSpPr/>
          <p:nvPr/>
        </p:nvSpPr>
        <p:spPr>
          <a:xfrm>
            <a:off x="941832" y="3017520"/>
            <a:ext cx="2971800" cy="484632"/>
          </a:xfrm>
          <a:prstGeom prst="roundRect">
            <a:avLst/>
          </a:prstGeom>
          <a:solidFill>
            <a:srgbClr val="EEF7F1"/>
          </a:solidFill>
          <a:ln w="12700">
            <a:solidFill>
              <a:srgbClr val="CFE9D8"/>
            </a:solidFill>
            <a:prstDash val="solid"/>
          </a:ln>
        </p:spPr>
        <p:txBody>
          <a:bodyPr/>
          <a:lstStyle/>
          <a:p>
            <a:endParaRPr lang="ja-JP" altLang="en-US"/>
          </a:p>
        </p:txBody>
      </p:sp>
      <p:sp>
        <p:nvSpPr>
          <p:cNvPr id="10" name="Text 8"/>
          <p:cNvSpPr/>
          <p:nvPr/>
        </p:nvSpPr>
        <p:spPr>
          <a:xfrm>
            <a:off x="1088136" y="3145536"/>
            <a:ext cx="1417320" cy="182880"/>
          </a:xfrm>
          <a:prstGeom prst="rect">
            <a:avLst/>
          </a:prstGeom>
          <a:noFill/>
          <a:ln/>
        </p:spPr>
        <p:txBody>
          <a:bodyPr wrap="square" lIns="0" tIns="0" rIns="0" bIns="0" rtlCol="0" anchor="ctr"/>
          <a:lstStyle/>
          <a:p>
            <a:pPr marL="0" indent="0">
              <a:buNone/>
            </a:pPr>
            <a:r>
              <a:rPr lang="en-US" sz="1150" b="1" dirty="0">
                <a:solidFill>
                  <a:srgbClr val="17324D"/>
                </a:solidFill>
              </a:rPr>
              <a:t>Walking choice</a:t>
            </a:r>
            <a:endParaRPr lang="en-US" sz="1150" dirty="0"/>
          </a:p>
        </p:txBody>
      </p:sp>
      <p:sp>
        <p:nvSpPr>
          <p:cNvPr id="11" name="Text 9"/>
          <p:cNvSpPr/>
          <p:nvPr/>
        </p:nvSpPr>
        <p:spPr>
          <a:xfrm>
            <a:off x="2423160" y="3145536"/>
            <a:ext cx="1280160" cy="182880"/>
          </a:xfrm>
          <a:prstGeom prst="rect">
            <a:avLst/>
          </a:prstGeom>
          <a:noFill/>
          <a:ln/>
        </p:spPr>
        <p:txBody>
          <a:bodyPr wrap="square" lIns="0" tIns="0" rIns="0" bIns="0" rtlCol="0" anchor="ctr"/>
          <a:lstStyle/>
          <a:p>
            <a:pPr marL="0" indent="0" algn="r">
              <a:buNone/>
            </a:pPr>
            <a:r>
              <a:rPr lang="en-US" sz="1100" dirty="0">
                <a:solidFill>
                  <a:srgbClr val="6B7280"/>
                </a:solidFill>
              </a:rPr>
              <a:t>10% probability</a:t>
            </a:r>
            <a:endParaRPr lang="en-US" sz="1100" dirty="0"/>
          </a:p>
        </p:txBody>
      </p:sp>
      <p:sp>
        <p:nvSpPr>
          <p:cNvPr id="12" name="Shape 10"/>
          <p:cNvSpPr/>
          <p:nvPr/>
        </p:nvSpPr>
        <p:spPr>
          <a:xfrm>
            <a:off x="941832" y="3703320"/>
            <a:ext cx="2971800" cy="484632"/>
          </a:xfrm>
          <a:prstGeom prst="roundRect">
            <a:avLst/>
          </a:prstGeom>
          <a:solidFill>
            <a:srgbClr val="FFF3E9"/>
          </a:solidFill>
          <a:ln w="12700">
            <a:solidFill>
              <a:srgbClr val="F4D9C2"/>
            </a:solidFill>
            <a:prstDash val="solid"/>
          </a:ln>
        </p:spPr>
        <p:txBody>
          <a:bodyPr/>
          <a:lstStyle/>
          <a:p>
            <a:endParaRPr lang="ja-JP" altLang="en-US"/>
          </a:p>
        </p:txBody>
      </p:sp>
      <p:sp>
        <p:nvSpPr>
          <p:cNvPr id="13" name="Text 11"/>
          <p:cNvSpPr/>
          <p:nvPr/>
        </p:nvSpPr>
        <p:spPr>
          <a:xfrm>
            <a:off x="1088136" y="3831336"/>
            <a:ext cx="1417320" cy="182880"/>
          </a:xfrm>
          <a:prstGeom prst="rect">
            <a:avLst/>
          </a:prstGeom>
          <a:noFill/>
          <a:ln/>
        </p:spPr>
        <p:txBody>
          <a:bodyPr wrap="square" lIns="0" tIns="0" rIns="0" bIns="0" rtlCol="0" anchor="ctr"/>
          <a:lstStyle/>
          <a:p>
            <a:pPr marL="0" indent="0">
              <a:buNone/>
            </a:pPr>
            <a:r>
              <a:rPr lang="en-US" sz="1150" b="1" dirty="0">
                <a:solidFill>
                  <a:srgbClr val="17324D"/>
                </a:solidFill>
              </a:rPr>
              <a:t>Bus capacity</a:t>
            </a:r>
            <a:endParaRPr lang="en-US" sz="1150" dirty="0"/>
          </a:p>
        </p:txBody>
      </p:sp>
      <p:sp>
        <p:nvSpPr>
          <p:cNvPr id="14" name="Text 12"/>
          <p:cNvSpPr/>
          <p:nvPr/>
        </p:nvSpPr>
        <p:spPr>
          <a:xfrm>
            <a:off x="2423160" y="3831336"/>
            <a:ext cx="1280160" cy="182880"/>
          </a:xfrm>
          <a:prstGeom prst="rect">
            <a:avLst/>
          </a:prstGeom>
          <a:noFill/>
          <a:ln/>
        </p:spPr>
        <p:txBody>
          <a:bodyPr wrap="square" lIns="0" tIns="0" rIns="0" bIns="0" rtlCol="0" anchor="ctr"/>
          <a:lstStyle/>
          <a:p>
            <a:pPr marL="0" indent="0" algn="r">
              <a:buNone/>
            </a:pPr>
            <a:r>
              <a:rPr lang="en-US" sz="1100" dirty="0">
                <a:solidFill>
                  <a:srgbClr val="6B7280"/>
                </a:solidFill>
              </a:rPr>
              <a:t>70–80 students</a:t>
            </a:r>
            <a:endParaRPr lang="en-US" sz="1100" dirty="0"/>
          </a:p>
        </p:txBody>
      </p:sp>
      <p:sp>
        <p:nvSpPr>
          <p:cNvPr id="15" name="Shape 13"/>
          <p:cNvSpPr/>
          <p:nvPr/>
        </p:nvSpPr>
        <p:spPr>
          <a:xfrm>
            <a:off x="941832" y="4389120"/>
            <a:ext cx="2971800" cy="484632"/>
          </a:xfrm>
          <a:prstGeom prst="roundRect">
            <a:avLst/>
          </a:prstGeom>
          <a:solidFill>
            <a:srgbClr val="FFF3E9"/>
          </a:solidFill>
          <a:ln w="12700">
            <a:solidFill>
              <a:srgbClr val="F4D9C2"/>
            </a:solidFill>
            <a:prstDash val="solid"/>
          </a:ln>
        </p:spPr>
        <p:txBody>
          <a:bodyPr/>
          <a:lstStyle/>
          <a:p>
            <a:endParaRPr lang="ja-JP" altLang="en-US"/>
          </a:p>
        </p:txBody>
      </p:sp>
      <p:sp>
        <p:nvSpPr>
          <p:cNvPr id="16" name="Text 14"/>
          <p:cNvSpPr/>
          <p:nvPr/>
        </p:nvSpPr>
        <p:spPr>
          <a:xfrm>
            <a:off x="1088136" y="4517136"/>
            <a:ext cx="1417320" cy="182880"/>
          </a:xfrm>
          <a:prstGeom prst="rect">
            <a:avLst/>
          </a:prstGeom>
          <a:noFill/>
          <a:ln/>
        </p:spPr>
        <p:txBody>
          <a:bodyPr wrap="square" lIns="0" tIns="0" rIns="0" bIns="0" rtlCol="0" anchor="ctr"/>
          <a:lstStyle/>
          <a:p>
            <a:pPr marL="0" indent="0">
              <a:buNone/>
            </a:pPr>
            <a:r>
              <a:rPr lang="en-US" sz="1150" b="1" dirty="0">
                <a:solidFill>
                  <a:srgbClr val="17324D"/>
                </a:solidFill>
              </a:rPr>
              <a:t>Bus delay</a:t>
            </a:r>
            <a:endParaRPr lang="en-US" sz="1150" dirty="0"/>
          </a:p>
        </p:txBody>
      </p:sp>
      <p:sp>
        <p:nvSpPr>
          <p:cNvPr id="17" name="Text 15"/>
          <p:cNvSpPr/>
          <p:nvPr/>
        </p:nvSpPr>
        <p:spPr>
          <a:xfrm>
            <a:off x="2423160" y="4517136"/>
            <a:ext cx="1280160" cy="182880"/>
          </a:xfrm>
          <a:prstGeom prst="rect">
            <a:avLst/>
          </a:prstGeom>
          <a:noFill/>
          <a:ln/>
        </p:spPr>
        <p:txBody>
          <a:bodyPr wrap="square" lIns="0" tIns="0" rIns="0" bIns="0" rtlCol="0" anchor="ctr"/>
          <a:lstStyle/>
          <a:p>
            <a:pPr marL="0" indent="0" algn="r">
              <a:buNone/>
            </a:pPr>
            <a:r>
              <a:rPr lang="en-US" sz="1100" dirty="0">
                <a:solidFill>
                  <a:srgbClr val="6B7280"/>
                </a:solidFill>
              </a:rPr>
              <a:t>0–5 minutes</a:t>
            </a:r>
            <a:endParaRPr lang="en-US" sz="1100" dirty="0"/>
          </a:p>
        </p:txBody>
      </p:sp>
      <p:sp>
        <p:nvSpPr>
          <p:cNvPr id="18" name="Text 16"/>
          <p:cNvSpPr/>
          <p:nvPr/>
        </p:nvSpPr>
        <p:spPr>
          <a:xfrm>
            <a:off x="960120" y="5285232"/>
            <a:ext cx="2926080" cy="320040"/>
          </a:xfrm>
          <a:prstGeom prst="rect">
            <a:avLst/>
          </a:prstGeom>
          <a:noFill/>
          <a:ln/>
        </p:spPr>
        <p:txBody>
          <a:bodyPr wrap="square" lIns="0" tIns="0" rIns="0" bIns="0" rtlCol="0" anchor="ctr">
            <a:normAutofit/>
          </a:bodyPr>
          <a:lstStyle/>
          <a:p>
            <a:pPr marL="0" indent="0">
              <a:buNone/>
            </a:pPr>
            <a:r>
              <a:rPr lang="en-US" sz="1050" dirty="0">
                <a:solidFill>
                  <a:srgbClr val="6B7280"/>
                </a:solidFill>
              </a:rPr>
              <a:t>rng(1) fixes the random-number sequence, so comparisons are reproducible.</a:t>
            </a:r>
            <a:endParaRPr lang="en-US" sz="1050" dirty="0"/>
          </a:p>
        </p:txBody>
      </p:sp>
      <p:sp>
        <p:nvSpPr>
          <p:cNvPr id="19" name="Shape 17"/>
          <p:cNvSpPr/>
          <p:nvPr/>
        </p:nvSpPr>
        <p:spPr>
          <a:xfrm>
            <a:off x="4983480" y="1828800"/>
            <a:ext cx="1417320" cy="914400"/>
          </a:xfrm>
          <a:prstGeom prst="roundRect">
            <a:avLst/>
          </a:prstGeom>
          <a:solidFill>
            <a:srgbClr val="EAF2F8"/>
          </a:solidFill>
          <a:ln w="12700">
            <a:solidFill>
              <a:srgbClr val="C7D9E8"/>
            </a:solidFill>
            <a:prstDash val="solid"/>
          </a:ln>
        </p:spPr>
        <p:txBody>
          <a:bodyPr/>
          <a:lstStyle/>
          <a:p>
            <a:endParaRPr lang="ja-JP" altLang="en-US"/>
          </a:p>
        </p:txBody>
      </p:sp>
      <p:sp>
        <p:nvSpPr>
          <p:cNvPr id="20" name="Text 18"/>
          <p:cNvSpPr/>
          <p:nvPr/>
        </p:nvSpPr>
        <p:spPr>
          <a:xfrm>
            <a:off x="4983480" y="2148840"/>
            <a:ext cx="1417320" cy="228600"/>
          </a:xfrm>
          <a:prstGeom prst="rect">
            <a:avLst/>
          </a:prstGeom>
          <a:noFill/>
          <a:ln/>
        </p:spPr>
        <p:txBody>
          <a:bodyPr wrap="square" lIns="0" tIns="0" rIns="0" bIns="0" rtlCol="0" anchor="ctr"/>
          <a:lstStyle/>
          <a:p>
            <a:pPr marL="0" indent="0" algn="ctr">
              <a:buNone/>
            </a:pPr>
            <a:r>
              <a:rPr lang="en-US" sz="1300" b="1" dirty="0">
                <a:solidFill>
                  <a:srgbClr val="2367A7"/>
                </a:solidFill>
              </a:rPr>
              <a:t>Run 1</a:t>
            </a:r>
            <a:endParaRPr lang="en-US" sz="1300" dirty="0"/>
          </a:p>
        </p:txBody>
      </p:sp>
      <p:sp>
        <p:nvSpPr>
          <p:cNvPr id="21" name="Shape 19"/>
          <p:cNvSpPr/>
          <p:nvPr/>
        </p:nvSpPr>
        <p:spPr>
          <a:xfrm>
            <a:off x="6492240" y="2286000"/>
            <a:ext cx="301752" cy="0"/>
          </a:xfrm>
          <a:prstGeom prst="line">
            <a:avLst/>
          </a:prstGeom>
          <a:noFill/>
          <a:ln w="25400">
            <a:solidFill>
              <a:srgbClr val="5C7C99"/>
            </a:solidFill>
            <a:prstDash val="solid"/>
            <a:headEnd type="none"/>
            <a:tailEnd type="triangle"/>
          </a:ln>
        </p:spPr>
        <p:txBody>
          <a:bodyPr/>
          <a:lstStyle/>
          <a:p>
            <a:endParaRPr lang="ja-JP" altLang="en-US"/>
          </a:p>
        </p:txBody>
      </p:sp>
      <p:sp>
        <p:nvSpPr>
          <p:cNvPr id="22" name="Shape 20"/>
          <p:cNvSpPr/>
          <p:nvPr/>
        </p:nvSpPr>
        <p:spPr>
          <a:xfrm>
            <a:off x="6903720" y="1828800"/>
            <a:ext cx="1417320" cy="914400"/>
          </a:xfrm>
          <a:prstGeom prst="roundRect">
            <a:avLst/>
          </a:prstGeom>
          <a:solidFill>
            <a:srgbClr val="EAF2F8"/>
          </a:solidFill>
          <a:ln w="12700">
            <a:solidFill>
              <a:srgbClr val="C7D9E8"/>
            </a:solidFill>
            <a:prstDash val="solid"/>
          </a:ln>
        </p:spPr>
        <p:txBody>
          <a:bodyPr/>
          <a:lstStyle/>
          <a:p>
            <a:endParaRPr lang="ja-JP" altLang="en-US"/>
          </a:p>
        </p:txBody>
      </p:sp>
      <p:sp>
        <p:nvSpPr>
          <p:cNvPr id="23" name="Text 21"/>
          <p:cNvSpPr/>
          <p:nvPr/>
        </p:nvSpPr>
        <p:spPr>
          <a:xfrm>
            <a:off x="6903720" y="2148840"/>
            <a:ext cx="1417320" cy="228600"/>
          </a:xfrm>
          <a:prstGeom prst="rect">
            <a:avLst/>
          </a:prstGeom>
          <a:noFill/>
          <a:ln/>
        </p:spPr>
        <p:txBody>
          <a:bodyPr wrap="square" lIns="0" tIns="0" rIns="0" bIns="0" rtlCol="0" anchor="ctr"/>
          <a:lstStyle/>
          <a:p>
            <a:pPr marL="0" indent="0" algn="ctr">
              <a:buNone/>
            </a:pPr>
            <a:r>
              <a:rPr lang="en-US" sz="1300" b="1" dirty="0">
                <a:solidFill>
                  <a:srgbClr val="2367A7"/>
                </a:solidFill>
              </a:rPr>
              <a:t>Run 2</a:t>
            </a:r>
            <a:endParaRPr lang="en-US" sz="1300" dirty="0"/>
          </a:p>
        </p:txBody>
      </p:sp>
      <p:sp>
        <p:nvSpPr>
          <p:cNvPr id="24" name="Shape 22"/>
          <p:cNvSpPr/>
          <p:nvPr/>
        </p:nvSpPr>
        <p:spPr>
          <a:xfrm>
            <a:off x="8412480" y="2286000"/>
            <a:ext cx="301752" cy="0"/>
          </a:xfrm>
          <a:prstGeom prst="line">
            <a:avLst/>
          </a:prstGeom>
          <a:noFill/>
          <a:ln w="25400">
            <a:solidFill>
              <a:srgbClr val="5C7C99"/>
            </a:solidFill>
            <a:prstDash val="solid"/>
            <a:headEnd type="none"/>
            <a:tailEnd type="triangle"/>
          </a:ln>
        </p:spPr>
        <p:txBody>
          <a:bodyPr/>
          <a:lstStyle/>
          <a:p>
            <a:endParaRPr lang="ja-JP" altLang="en-US"/>
          </a:p>
        </p:txBody>
      </p:sp>
      <p:sp>
        <p:nvSpPr>
          <p:cNvPr id="25" name="Shape 23"/>
          <p:cNvSpPr/>
          <p:nvPr/>
        </p:nvSpPr>
        <p:spPr>
          <a:xfrm>
            <a:off x="8823960" y="1828800"/>
            <a:ext cx="1417320" cy="914400"/>
          </a:xfrm>
          <a:prstGeom prst="roundRect">
            <a:avLst/>
          </a:prstGeom>
          <a:solidFill>
            <a:srgbClr val="EAF2F8"/>
          </a:solidFill>
          <a:ln w="12700">
            <a:solidFill>
              <a:srgbClr val="C7D9E8"/>
            </a:solidFill>
            <a:prstDash val="solid"/>
          </a:ln>
        </p:spPr>
        <p:txBody>
          <a:bodyPr/>
          <a:lstStyle/>
          <a:p>
            <a:endParaRPr lang="ja-JP" altLang="en-US"/>
          </a:p>
        </p:txBody>
      </p:sp>
      <p:sp>
        <p:nvSpPr>
          <p:cNvPr id="26" name="Text 24"/>
          <p:cNvSpPr/>
          <p:nvPr/>
        </p:nvSpPr>
        <p:spPr>
          <a:xfrm>
            <a:off x="8823960" y="2148840"/>
            <a:ext cx="1417320" cy="228600"/>
          </a:xfrm>
          <a:prstGeom prst="rect">
            <a:avLst/>
          </a:prstGeom>
          <a:noFill/>
          <a:ln/>
        </p:spPr>
        <p:txBody>
          <a:bodyPr wrap="square" lIns="0" tIns="0" rIns="0" bIns="0" rtlCol="0" anchor="ctr"/>
          <a:lstStyle/>
          <a:p>
            <a:pPr marL="0" indent="0" algn="ctr">
              <a:buNone/>
            </a:pPr>
            <a:r>
              <a:rPr lang="en-US" sz="1300" b="1" dirty="0">
                <a:solidFill>
                  <a:srgbClr val="2367A7"/>
                </a:solidFill>
              </a:rPr>
              <a:t>Run 10,000</a:t>
            </a:r>
            <a:endParaRPr lang="en-US" sz="1300" dirty="0"/>
          </a:p>
        </p:txBody>
      </p:sp>
      <p:sp>
        <p:nvSpPr>
          <p:cNvPr id="27" name="Shape 25"/>
          <p:cNvSpPr/>
          <p:nvPr/>
        </p:nvSpPr>
        <p:spPr>
          <a:xfrm>
            <a:off x="9555480" y="2926080"/>
            <a:ext cx="0" cy="512064"/>
          </a:xfrm>
          <a:prstGeom prst="line">
            <a:avLst/>
          </a:prstGeom>
          <a:noFill/>
          <a:ln w="25400">
            <a:solidFill>
              <a:srgbClr val="5C7C99"/>
            </a:solidFill>
            <a:prstDash val="solid"/>
            <a:headEnd type="none"/>
            <a:tailEnd type="triangle"/>
          </a:ln>
        </p:spPr>
        <p:txBody>
          <a:bodyPr/>
          <a:lstStyle/>
          <a:p>
            <a:endParaRPr lang="ja-JP" altLang="en-US"/>
          </a:p>
        </p:txBody>
      </p:sp>
      <p:sp>
        <p:nvSpPr>
          <p:cNvPr id="28" name="Shape 26"/>
          <p:cNvSpPr/>
          <p:nvPr/>
        </p:nvSpPr>
        <p:spPr>
          <a:xfrm>
            <a:off x="6492240" y="3547872"/>
            <a:ext cx="4480560" cy="1170432"/>
          </a:xfrm>
          <a:prstGeom prst="roundRect">
            <a:avLst/>
          </a:prstGeom>
          <a:solidFill>
            <a:srgbClr val="2367A7"/>
          </a:solidFill>
          <a:ln w="12700">
            <a:solidFill>
              <a:srgbClr val="2367A7"/>
            </a:solidFill>
            <a:prstDash val="solid"/>
          </a:ln>
        </p:spPr>
        <p:txBody>
          <a:bodyPr/>
          <a:lstStyle/>
          <a:p>
            <a:endParaRPr lang="ja-JP" altLang="en-US"/>
          </a:p>
        </p:txBody>
      </p:sp>
      <p:sp>
        <p:nvSpPr>
          <p:cNvPr id="29" name="Text 27"/>
          <p:cNvSpPr/>
          <p:nvPr/>
        </p:nvSpPr>
        <p:spPr>
          <a:xfrm>
            <a:off x="6812280" y="3822192"/>
            <a:ext cx="3840480" cy="310896"/>
          </a:xfrm>
          <a:prstGeom prst="rect">
            <a:avLst/>
          </a:prstGeom>
          <a:noFill/>
          <a:ln/>
        </p:spPr>
        <p:txBody>
          <a:bodyPr wrap="square" lIns="0" tIns="0" rIns="0" bIns="0" rtlCol="0" anchor="ctr"/>
          <a:lstStyle/>
          <a:p>
            <a:pPr marL="0" indent="0" algn="ctr">
              <a:buNone/>
            </a:pPr>
            <a:r>
              <a:rPr lang="en-US" sz="1800" b="1" dirty="0">
                <a:solidFill>
                  <a:srgbClr val="FFFFFF"/>
                </a:solidFill>
              </a:rPr>
              <a:t>Average across all runs</a:t>
            </a:r>
            <a:endParaRPr lang="en-US" sz="1800" dirty="0"/>
          </a:p>
        </p:txBody>
      </p:sp>
      <p:sp>
        <p:nvSpPr>
          <p:cNvPr id="30" name="Text 28"/>
          <p:cNvSpPr/>
          <p:nvPr/>
        </p:nvSpPr>
        <p:spPr>
          <a:xfrm>
            <a:off x="6812280" y="4206240"/>
            <a:ext cx="3840480" cy="237744"/>
          </a:xfrm>
          <a:prstGeom prst="rect">
            <a:avLst/>
          </a:prstGeom>
          <a:noFill/>
          <a:ln/>
        </p:spPr>
        <p:txBody>
          <a:bodyPr wrap="square" lIns="0" tIns="0" rIns="0" bIns="0" rtlCol="0" anchor="ctr"/>
          <a:lstStyle/>
          <a:p>
            <a:pPr marL="0" indent="0" algn="ctr">
              <a:buNone/>
            </a:pPr>
            <a:r>
              <a:rPr lang="en-US" sz="1100" dirty="0">
                <a:solidFill>
                  <a:srgbClr val="E6F0F8"/>
                </a:solidFill>
              </a:rPr>
              <a:t>Stable estimate of queue length and performance metrics</a:t>
            </a:r>
            <a:endParaRPr lang="en-US" sz="1100" dirty="0"/>
          </a:p>
        </p:txBody>
      </p:sp>
      <p:sp>
        <p:nvSpPr>
          <p:cNvPr id="31" name="Text 29"/>
          <p:cNvSpPr/>
          <p:nvPr/>
        </p:nvSpPr>
        <p:spPr>
          <a:xfrm>
            <a:off x="4983480" y="5230368"/>
            <a:ext cx="5989320" cy="475488"/>
          </a:xfrm>
          <a:prstGeom prst="rect">
            <a:avLst/>
          </a:prstGeom>
          <a:noFill/>
          <a:ln/>
        </p:spPr>
        <p:txBody>
          <a:bodyPr wrap="square" lIns="0" tIns="0" rIns="0" bIns="0" rtlCol="0" anchor="ctr"/>
          <a:lstStyle/>
          <a:p>
            <a:pPr marL="0" indent="0" algn="ctr">
              <a:buNone/>
            </a:pPr>
            <a:r>
              <a:rPr lang="en-US" sz="1300" dirty="0">
                <a:solidFill>
                  <a:srgbClr val="6B7280"/>
                </a:solidFill>
              </a:rPr>
              <a:t>One simulation may be unusually good or bad. Repetition reveals the typical system behavior.</a:t>
            </a:r>
            <a:endParaRPr lang="en-US" sz="1300" dirty="0"/>
          </a:p>
        </p:txBody>
      </p:sp>
      <p:sp>
        <p:nvSpPr>
          <p:cNvPr id="32"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47472"/>
            <a:ext cx="11155680" cy="438912"/>
          </a:xfrm>
          <a:prstGeom prst="rect">
            <a:avLst/>
          </a:prstGeom>
          <a:noFill/>
          <a:ln/>
        </p:spPr>
        <p:txBody>
          <a:bodyPr wrap="square" lIns="0" tIns="0" rIns="0" bIns="0" rtlCol="0" anchor="ctr"/>
          <a:lstStyle/>
          <a:p>
            <a:pPr marL="0" indent="0">
              <a:buNone/>
            </a:pPr>
            <a:r>
              <a:rPr lang="en-US" sz="2500" b="1" dirty="0">
                <a:solidFill>
                  <a:srgbClr val="17324D"/>
                </a:solidFill>
                <a:latin typeface="Aptos Display" pitchFamily="34" charset="0"/>
                <a:ea typeface="Aptos Display" pitchFamily="34" charset="-122"/>
                <a:cs typeface="Aptos Display" pitchFamily="34" charset="-120"/>
              </a:rPr>
              <a:t>5. Baseline Result: bus_interval = 6 min</a:t>
            </a:r>
            <a:endParaRPr lang="en-US" sz="2500" dirty="0"/>
          </a:p>
        </p:txBody>
      </p:sp>
      <p:sp>
        <p:nvSpPr>
          <p:cNvPr id="3" name="Text 1"/>
          <p:cNvSpPr/>
          <p:nvPr/>
        </p:nvSpPr>
        <p:spPr>
          <a:xfrm>
            <a:off x="530352" y="841248"/>
            <a:ext cx="10881360" cy="237744"/>
          </a:xfrm>
          <a:prstGeom prst="rect">
            <a:avLst/>
          </a:prstGeom>
          <a:noFill/>
          <a:ln/>
        </p:spPr>
        <p:txBody>
          <a:bodyPr wrap="square" lIns="0" tIns="0" rIns="0" bIns="0" rtlCol="0" anchor="ctr"/>
          <a:lstStyle/>
          <a:p>
            <a:pPr marL="0" indent="0">
              <a:buNone/>
            </a:pPr>
            <a:r>
              <a:rPr lang="en-US" sz="1150" dirty="0">
                <a:solidFill>
                  <a:srgbClr val="6B7280"/>
                </a:solidFill>
              </a:rPr>
              <a:t>Average queue length over 10,000 simulations</a:t>
            </a:r>
            <a:endParaRPr lang="en-US" sz="1150" dirty="0"/>
          </a:p>
        </p:txBody>
      </p:sp>
      <p:pic>
        <p:nvPicPr>
          <p:cNvPr id="4" name="Image 0" descr="/mnt/data/bus_interval=6.jpg"/>
          <p:cNvPicPr>
            <a:picLocks noChangeAspect="1"/>
          </p:cNvPicPr>
          <p:nvPr/>
        </p:nvPicPr>
        <p:blipFill>
          <a:blip r:embed="rId3"/>
          <a:stretch>
            <a:fillRect/>
          </a:stretch>
        </p:blipFill>
        <p:spPr>
          <a:xfrm>
            <a:off x="502920" y="1234440"/>
            <a:ext cx="6903720" cy="4297680"/>
          </a:xfrm>
          <a:prstGeom prst="rect">
            <a:avLst/>
          </a:prstGeom>
        </p:spPr>
      </p:pic>
      <p:sp>
        <p:nvSpPr>
          <p:cNvPr id="5" name="Shape 2"/>
          <p:cNvSpPr/>
          <p:nvPr/>
        </p:nvSpPr>
        <p:spPr>
          <a:xfrm>
            <a:off x="7635240" y="1353312"/>
            <a:ext cx="1847088" cy="1024128"/>
          </a:xfrm>
          <a:prstGeom prst="roundRect">
            <a:avLst/>
          </a:prstGeom>
          <a:solidFill>
            <a:srgbClr val="FFFFFF"/>
          </a:solidFill>
          <a:ln w="12700">
            <a:solidFill>
              <a:srgbClr val="D6E2EC"/>
            </a:solidFill>
            <a:prstDash val="solid"/>
          </a:ln>
          <a:effectLst>
            <a:outerShdw blurRad="12700" dist="50800" dir="2700000" algn="bl" rotWithShape="0">
              <a:srgbClr val="D9E1E8">
                <a:alpha val="25000"/>
              </a:srgbClr>
            </a:outerShdw>
          </a:effectLst>
        </p:spPr>
        <p:txBody>
          <a:bodyPr/>
          <a:lstStyle/>
          <a:p>
            <a:endParaRPr lang="ja-JP" altLang="en-US"/>
          </a:p>
        </p:txBody>
      </p:sp>
      <p:sp>
        <p:nvSpPr>
          <p:cNvPr id="6" name="Shape 3"/>
          <p:cNvSpPr/>
          <p:nvPr/>
        </p:nvSpPr>
        <p:spPr>
          <a:xfrm>
            <a:off x="7635240" y="1353312"/>
            <a:ext cx="73152" cy="1024128"/>
          </a:xfrm>
          <a:prstGeom prst="rect">
            <a:avLst/>
          </a:prstGeom>
          <a:solidFill>
            <a:srgbClr val="2367A7"/>
          </a:solidFill>
          <a:ln w="12700">
            <a:solidFill>
              <a:srgbClr val="2367A7"/>
            </a:solidFill>
            <a:prstDash val="solid"/>
          </a:ln>
        </p:spPr>
        <p:txBody>
          <a:bodyPr/>
          <a:lstStyle/>
          <a:p>
            <a:endParaRPr lang="ja-JP" altLang="en-US"/>
          </a:p>
        </p:txBody>
      </p:sp>
      <p:sp>
        <p:nvSpPr>
          <p:cNvPr id="7" name="Text 4"/>
          <p:cNvSpPr/>
          <p:nvPr/>
        </p:nvSpPr>
        <p:spPr>
          <a:xfrm>
            <a:off x="7836408" y="1499616"/>
            <a:ext cx="1554480" cy="210312"/>
          </a:xfrm>
          <a:prstGeom prst="rect">
            <a:avLst/>
          </a:prstGeom>
          <a:noFill/>
          <a:ln/>
        </p:spPr>
        <p:txBody>
          <a:bodyPr wrap="square" lIns="0" tIns="0" rIns="0" bIns="0" rtlCol="0" anchor="ctr"/>
          <a:lstStyle/>
          <a:p>
            <a:pPr marL="0" indent="0">
              <a:buNone/>
            </a:pPr>
            <a:r>
              <a:rPr lang="en-US" sz="1050" dirty="0">
                <a:solidFill>
                  <a:srgbClr val="6B7280"/>
                </a:solidFill>
              </a:rPr>
              <a:t>Transported</a:t>
            </a:r>
            <a:endParaRPr lang="en-US" sz="1050" dirty="0"/>
          </a:p>
        </p:txBody>
      </p:sp>
      <p:sp>
        <p:nvSpPr>
          <p:cNvPr id="8" name="Text 5"/>
          <p:cNvSpPr/>
          <p:nvPr/>
        </p:nvSpPr>
        <p:spPr>
          <a:xfrm>
            <a:off x="7763256" y="1773936"/>
            <a:ext cx="1517904" cy="347472"/>
          </a:xfrm>
          <a:prstGeom prst="rect">
            <a:avLst/>
          </a:prstGeom>
          <a:noFill/>
          <a:ln/>
        </p:spPr>
        <p:txBody>
          <a:bodyPr wrap="square" lIns="0" tIns="0" rIns="0" bIns="0" rtlCol="0" anchor="ctr"/>
          <a:lstStyle/>
          <a:p>
            <a:pPr marL="0" indent="0">
              <a:buNone/>
            </a:pPr>
            <a:r>
              <a:rPr lang="en-US" sz="2300" b="1" dirty="0">
                <a:solidFill>
                  <a:srgbClr val="17324D"/>
                </a:solidFill>
              </a:rPr>
              <a:t>1,478.11</a:t>
            </a:r>
            <a:endParaRPr lang="en-US" sz="2300" dirty="0"/>
          </a:p>
        </p:txBody>
      </p:sp>
      <p:sp>
        <p:nvSpPr>
          <p:cNvPr id="9" name="Text 6"/>
          <p:cNvSpPr/>
          <p:nvPr/>
        </p:nvSpPr>
        <p:spPr>
          <a:xfrm>
            <a:off x="8887968" y="1901952"/>
            <a:ext cx="502920" cy="155448"/>
          </a:xfrm>
          <a:prstGeom prst="rect">
            <a:avLst/>
          </a:prstGeom>
          <a:noFill/>
          <a:ln/>
        </p:spPr>
        <p:txBody>
          <a:bodyPr wrap="square" lIns="0" tIns="0" rIns="0" bIns="0" rtlCol="0" anchor="ctr"/>
          <a:lstStyle/>
          <a:p>
            <a:pPr marL="0" indent="0" algn="r">
              <a:buNone/>
            </a:pPr>
            <a:r>
              <a:rPr lang="en-US" sz="1000" dirty="0">
                <a:solidFill>
                  <a:srgbClr val="6B7280"/>
                </a:solidFill>
              </a:rPr>
              <a:t>students</a:t>
            </a:r>
            <a:endParaRPr lang="en-US" sz="1000" dirty="0"/>
          </a:p>
        </p:txBody>
      </p:sp>
      <p:sp>
        <p:nvSpPr>
          <p:cNvPr id="10" name="Shape 7"/>
          <p:cNvSpPr/>
          <p:nvPr/>
        </p:nvSpPr>
        <p:spPr>
          <a:xfrm>
            <a:off x="9646920" y="1353312"/>
            <a:ext cx="1847088" cy="1024128"/>
          </a:xfrm>
          <a:prstGeom prst="roundRect">
            <a:avLst/>
          </a:prstGeom>
          <a:solidFill>
            <a:srgbClr val="FFFFFF"/>
          </a:solidFill>
          <a:ln w="12700">
            <a:solidFill>
              <a:srgbClr val="D6E2EC"/>
            </a:solidFill>
            <a:prstDash val="solid"/>
          </a:ln>
          <a:effectLst>
            <a:outerShdw blurRad="12700" dist="50800" dir="2700000" algn="bl" rotWithShape="0">
              <a:srgbClr val="D9E1E8">
                <a:alpha val="25000"/>
              </a:srgbClr>
            </a:outerShdw>
          </a:effectLst>
        </p:spPr>
        <p:txBody>
          <a:bodyPr/>
          <a:lstStyle/>
          <a:p>
            <a:endParaRPr lang="ja-JP" altLang="en-US"/>
          </a:p>
        </p:txBody>
      </p:sp>
      <p:sp>
        <p:nvSpPr>
          <p:cNvPr id="11" name="Shape 8"/>
          <p:cNvSpPr/>
          <p:nvPr/>
        </p:nvSpPr>
        <p:spPr>
          <a:xfrm>
            <a:off x="9646920" y="1353312"/>
            <a:ext cx="73152" cy="1024128"/>
          </a:xfrm>
          <a:prstGeom prst="rect">
            <a:avLst/>
          </a:prstGeom>
          <a:solidFill>
            <a:srgbClr val="C84A4A"/>
          </a:solidFill>
          <a:ln w="12700">
            <a:solidFill>
              <a:srgbClr val="C84A4A"/>
            </a:solidFill>
            <a:prstDash val="solid"/>
          </a:ln>
        </p:spPr>
        <p:txBody>
          <a:bodyPr/>
          <a:lstStyle/>
          <a:p>
            <a:endParaRPr lang="ja-JP" altLang="en-US"/>
          </a:p>
        </p:txBody>
      </p:sp>
      <p:sp>
        <p:nvSpPr>
          <p:cNvPr id="12" name="Text 9"/>
          <p:cNvSpPr/>
          <p:nvPr/>
        </p:nvSpPr>
        <p:spPr>
          <a:xfrm>
            <a:off x="9848088" y="1499616"/>
            <a:ext cx="1554480" cy="210312"/>
          </a:xfrm>
          <a:prstGeom prst="rect">
            <a:avLst/>
          </a:prstGeom>
          <a:noFill/>
          <a:ln/>
        </p:spPr>
        <p:txBody>
          <a:bodyPr wrap="square" lIns="0" tIns="0" rIns="0" bIns="0" rtlCol="0" anchor="ctr"/>
          <a:lstStyle/>
          <a:p>
            <a:pPr marL="0" indent="0">
              <a:buNone/>
            </a:pPr>
            <a:r>
              <a:rPr lang="en-US" sz="1050" dirty="0">
                <a:solidFill>
                  <a:srgbClr val="6B7280"/>
                </a:solidFill>
              </a:rPr>
              <a:t>Remaining</a:t>
            </a:r>
            <a:endParaRPr lang="en-US" sz="1050" dirty="0"/>
          </a:p>
        </p:txBody>
      </p:sp>
      <p:sp>
        <p:nvSpPr>
          <p:cNvPr id="13" name="Text 10"/>
          <p:cNvSpPr/>
          <p:nvPr/>
        </p:nvSpPr>
        <p:spPr>
          <a:xfrm>
            <a:off x="9848088" y="1773936"/>
            <a:ext cx="1517904" cy="347472"/>
          </a:xfrm>
          <a:prstGeom prst="rect">
            <a:avLst/>
          </a:prstGeom>
          <a:noFill/>
          <a:ln/>
        </p:spPr>
        <p:txBody>
          <a:bodyPr wrap="square" lIns="0" tIns="0" rIns="0" bIns="0" rtlCol="0" anchor="ctr"/>
          <a:lstStyle/>
          <a:p>
            <a:pPr marL="0" indent="0">
              <a:buNone/>
            </a:pPr>
            <a:r>
              <a:rPr lang="en-US" sz="2300" b="1" dirty="0">
                <a:solidFill>
                  <a:srgbClr val="17324D"/>
                </a:solidFill>
              </a:rPr>
              <a:t>147.63</a:t>
            </a:r>
            <a:endParaRPr lang="en-US" sz="2300" dirty="0"/>
          </a:p>
        </p:txBody>
      </p:sp>
      <p:sp>
        <p:nvSpPr>
          <p:cNvPr id="14" name="Text 11"/>
          <p:cNvSpPr/>
          <p:nvPr/>
        </p:nvSpPr>
        <p:spPr>
          <a:xfrm>
            <a:off x="10899648" y="1901952"/>
            <a:ext cx="512064" cy="164592"/>
          </a:xfrm>
          <a:prstGeom prst="rect">
            <a:avLst/>
          </a:prstGeom>
          <a:noFill/>
          <a:ln/>
        </p:spPr>
        <p:txBody>
          <a:bodyPr wrap="square" lIns="0" tIns="0" rIns="0" bIns="0" rtlCol="0" anchor="ctr"/>
          <a:lstStyle/>
          <a:p>
            <a:pPr marL="0" indent="0" algn="r">
              <a:buNone/>
            </a:pPr>
            <a:r>
              <a:rPr lang="en-US" sz="1000" dirty="0">
                <a:solidFill>
                  <a:srgbClr val="6B7280"/>
                </a:solidFill>
              </a:rPr>
              <a:t>students</a:t>
            </a:r>
            <a:endParaRPr lang="en-US" sz="1000" dirty="0"/>
          </a:p>
        </p:txBody>
      </p:sp>
      <p:sp>
        <p:nvSpPr>
          <p:cNvPr id="15" name="Shape 12"/>
          <p:cNvSpPr/>
          <p:nvPr/>
        </p:nvSpPr>
        <p:spPr>
          <a:xfrm>
            <a:off x="7635240" y="2606040"/>
            <a:ext cx="1847088" cy="1024128"/>
          </a:xfrm>
          <a:prstGeom prst="roundRect">
            <a:avLst/>
          </a:prstGeom>
          <a:solidFill>
            <a:srgbClr val="FFFFFF"/>
          </a:solidFill>
          <a:ln w="12700">
            <a:solidFill>
              <a:srgbClr val="D6E2EC"/>
            </a:solidFill>
            <a:prstDash val="solid"/>
          </a:ln>
          <a:effectLst>
            <a:outerShdw blurRad="12700" dist="50800" dir="2700000" algn="bl" rotWithShape="0">
              <a:srgbClr val="D9E1E8">
                <a:alpha val="25000"/>
              </a:srgbClr>
            </a:outerShdw>
          </a:effectLst>
        </p:spPr>
        <p:txBody>
          <a:bodyPr/>
          <a:lstStyle/>
          <a:p>
            <a:endParaRPr lang="ja-JP" altLang="en-US"/>
          </a:p>
        </p:txBody>
      </p:sp>
      <p:sp>
        <p:nvSpPr>
          <p:cNvPr id="16" name="Shape 13"/>
          <p:cNvSpPr/>
          <p:nvPr/>
        </p:nvSpPr>
        <p:spPr>
          <a:xfrm>
            <a:off x="7635240" y="2606040"/>
            <a:ext cx="73152" cy="1024128"/>
          </a:xfrm>
          <a:prstGeom prst="rect">
            <a:avLst/>
          </a:prstGeom>
          <a:solidFill>
            <a:srgbClr val="E07A2D"/>
          </a:solidFill>
          <a:ln w="12700">
            <a:solidFill>
              <a:srgbClr val="E07A2D"/>
            </a:solidFill>
            <a:prstDash val="solid"/>
          </a:ln>
        </p:spPr>
        <p:txBody>
          <a:bodyPr/>
          <a:lstStyle/>
          <a:p>
            <a:endParaRPr lang="ja-JP" altLang="en-US"/>
          </a:p>
        </p:txBody>
      </p:sp>
      <p:sp>
        <p:nvSpPr>
          <p:cNvPr id="17" name="Text 14"/>
          <p:cNvSpPr/>
          <p:nvPr/>
        </p:nvSpPr>
        <p:spPr>
          <a:xfrm>
            <a:off x="7836408" y="2752344"/>
            <a:ext cx="1554480" cy="210312"/>
          </a:xfrm>
          <a:prstGeom prst="rect">
            <a:avLst/>
          </a:prstGeom>
          <a:noFill/>
          <a:ln/>
        </p:spPr>
        <p:txBody>
          <a:bodyPr wrap="square" lIns="0" tIns="0" rIns="0" bIns="0" rtlCol="0" anchor="ctr"/>
          <a:lstStyle/>
          <a:p>
            <a:pPr marL="0" indent="0">
              <a:buNone/>
            </a:pPr>
            <a:r>
              <a:rPr lang="en-US" sz="1050" dirty="0">
                <a:solidFill>
                  <a:srgbClr val="6B7280"/>
                </a:solidFill>
              </a:rPr>
              <a:t>Average wait</a:t>
            </a:r>
            <a:endParaRPr lang="en-US" sz="1050" dirty="0"/>
          </a:p>
        </p:txBody>
      </p:sp>
      <p:sp>
        <p:nvSpPr>
          <p:cNvPr id="18" name="Text 15"/>
          <p:cNvSpPr/>
          <p:nvPr/>
        </p:nvSpPr>
        <p:spPr>
          <a:xfrm>
            <a:off x="7836408" y="3026664"/>
            <a:ext cx="1517904" cy="347472"/>
          </a:xfrm>
          <a:prstGeom prst="rect">
            <a:avLst/>
          </a:prstGeom>
          <a:noFill/>
          <a:ln/>
        </p:spPr>
        <p:txBody>
          <a:bodyPr wrap="square" lIns="0" tIns="0" rIns="0" bIns="0" rtlCol="0" anchor="ctr"/>
          <a:lstStyle/>
          <a:p>
            <a:pPr marL="0" indent="0">
              <a:buNone/>
            </a:pPr>
            <a:r>
              <a:rPr lang="en-US" sz="2300" b="1" dirty="0">
                <a:solidFill>
                  <a:srgbClr val="17324D"/>
                </a:solidFill>
              </a:rPr>
              <a:t>11.42</a:t>
            </a:r>
            <a:endParaRPr lang="en-US" sz="2300" dirty="0"/>
          </a:p>
        </p:txBody>
      </p:sp>
      <p:sp>
        <p:nvSpPr>
          <p:cNvPr id="19" name="Text 16"/>
          <p:cNvSpPr/>
          <p:nvPr/>
        </p:nvSpPr>
        <p:spPr>
          <a:xfrm>
            <a:off x="8887968" y="3154680"/>
            <a:ext cx="438912" cy="164592"/>
          </a:xfrm>
          <a:prstGeom prst="rect">
            <a:avLst/>
          </a:prstGeom>
          <a:noFill/>
          <a:ln/>
        </p:spPr>
        <p:txBody>
          <a:bodyPr wrap="square" lIns="0" tIns="0" rIns="0" bIns="0" rtlCol="0" anchor="ctr"/>
          <a:lstStyle/>
          <a:p>
            <a:pPr marL="0" indent="0" algn="r">
              <a:buNone/>
            </a:pPr>
            <a:r>
              <a:rPr lang="en-US" sz="1000" dirty="0">
                <a:solidFill>
                  <a:srgbClr val="6B7280"/>
                </a:solidFill>
              </a:rPr>
              <a:t>min</a:t>
            </a:r>
            <a:endParaRPr lang="en-US" sz="1000" dirty="0"/>
          </a:p>
        </p:txBody>
      </p:sp>
      <p:sp>
        <p:nvSpPr>
          <p:cNvPr id="20" name="Shape 17"/>
          <p:cNvSpPr/>
          <p:nvPr/>
        </p:nvSpPr>
        <p:spPr>
          <a:xfrm>
            <a:off x="9646920" y="2606040"/>
            <a:ext cx="1847088" cy="1024128"/>
          </a:xfrm>
          <a:prstGeom prst="roundRect">
            <a:avLst/>
          </a:prstGeom>
          <a:solidFill>
            <a:srgbClr val="FFFFFF"/>
          </a:solidFill>
          <a:ln w="12700">
            <a:solidFill>
              <a:srgbClr val="D6E2EC"/>
            </a:solidFill>
            <a:prstDash val="solid"/>
          </a:ln>
          <a:effectLst>
            <a:outerShdw blurRad="12700" dist="50800" dir="2700000" algn="bl" rotWithShape="0">
              <a:srgbClr val="D9E1E8">
                <a:alpha val="25000"/>
              </a:srgbClr>
            </a:outerShdw>
          </a:effectLst>
        </p:spPr>
        <p:txBody>
          <a:bodyPr/>
          <a:lstStyle/>
          <a:p>
            <a:endParaRPr lang="ja-JP" altLang="en-US"/>
          </a:p>
        </p:txBody>
      </p:sp>
      <p:sp>
        <p:nvSpPr>
          <p:cNvPr id="21" name="Shape 18"/>
          <p:cNvSpPr/>
          <p:nvPr/>
        </p:nvSpPr>
        <p:spPr>
          <a:xfrm>
            <a:off x="9646920" y="2606040"/>
            <a:ext cx="73152" cy="1024128"/>
          </a:xfrm>
          <a:prstGeom prst="rect">
            <a:avLst/>
          </a:prstGeom>
          <a:solidFill>
            <a:srgbClr val="E07A2D"/>
          </a:solidFill>
          <a:ln w="12700">
            <a:solidFill>
              <a:srgbClr val="E07A2D"/>
            </a:solidFill>
            <a:prstDash val="solid"/>
          </a:ln>
        </p:spPr>
        <p:txBody>
          <a:bodyPr/>
          <a:lstStyle/>
          <a:p>
            <a:endParaRPr lang="ja-JP" altLang="en-US"/>
          </a:p>
        </p:txBody>
      </p:sp>
      <p:sp>
        <p:nvSpPr>
          <p:cNvPr id="22" name="Text 19"/>
          <p:cNvSpPr/>
          <p:nvPr/>
        </p:nvSpPr>
        <p:spPr>
          <a:xfrm>
            <a:off x="9848088" y="2752344"/>
            <a:ext cx="1554480" cy="210312"/>
          </a:xfrm>
          <a:prstGeom prst="rect">
            <a:avLst/>
          </a:prstGeom>
          <a:noFill/>
          <a:ln/>
        </p:spPr>
        <p:txBody>
          <a:bodyPr wrap="square" lIns="0" tIns="0" rIns="0" bIns="0" rtlCol="0" anchor="ctr"/>
          <a:lstStyle/>
          <a:p>
            <a:pPr marL="0" indent="0">
              <a:buNone/>
            </a:pPr>
            <a:r>
              <a:rPr lang="en-US" sz="1050" dirty="0">
                <a:solidFill>
                  <a:srgbClr val="6B7280"/>
                </a:solidFill>
              </a:rPr>
              <a:t>Maximum wait</a:t>
            </a:r>
            <a:endParaRPr lang="en-US" sz="1050" dirty="0"/>
          </a:p>
        </p:txBody>
      </p:sp>
      <p:sp>
        <p:nvSpPr>
          <p:cNvPr id="23" name="Text 20"/>
          <p:cNvSpPr/>
          <p:nvPr/>
        </p:nvSpPr>
        <p:spPr>
          <a:xfrm>
            <a:off x="9848088" y="3026664"/>
            <a:ext cx="1517904" cy="347472"/>
          </a:xfrm>
          <a:prstGeom prst="rect">
            <a:avLst/>
          </a:prstGeom>
          <a:noFill/>
          <a:ln/>
        </p:spPr>
        <p:txBody>
          <a:bodyPr wrap="square" lIns="0" tIns="0" rIns="0" bIns="0" rtlCol="0" anchor="ctr"/>
          <a:lstStyle/>
          <a:p>
            <a:pPr marL="0" indent="0">
              <a:buNone/>
            </a:pPr>
            <a:r>
              <a:rPr lang="en-US" sz="2300" b="1" dirty="0">
                <a:solidFill>
                  <a:srgbClr val="17324D"/>
                </a:solidFill>
              </a:rPr>
              <a:t>22.79</a:t>
            </a:r>
            <a:endParaRPr lang="en-US" sz="2300" dirty="0"/>
          </a:p>
        </p:txBody>
      </p:sp>
      <p:sp>
        <p:nvSpPr>
          <p:cNvPr id="24" name="Text 21"/>
          <p:cNvSpPr/>
          <p:nvPr/>
        </p:nvSpPr>
        <p:spPr>
          <a:xfrm>
            <a:off x="10899648" y="3154680"/>
            <a:ext cx="438912" cy="164592"/>
          </a:xfrm>
          <a:prstGeom prst="rect">
            <a:avLst/>
          </a:prstGeom>
          <a:noFill/>
          <a:ln/>
        </p:spPr>
        <p:txBody>
          <a:bodyPr wrap="square" lIns="0" tIns="0" rIns="0" bIns="0" rtlCol="0" anchor="ctr"/>
          <a:lstStyle/>
          <a:p>
            <a:pPr marL="0" indent="0" algn="r">
              <a:buNone/>
            </a:pPr>
            <a:r>
              <a:rPr lang="en-US" sz="1000" dirty="0">
                <a:solidFill>
                  <a:srgbClr val="6B7280"/>
                </a:solidFill>
              </a:rPr>
              <a:t>min</a:t>
            </a:r>
            <a:endParaRPr lang="en-US" sz="1000" dirty="0"/>
          </a:p>
        </p:txBody>
      </p:sp>
      <p:sp>
        <p:nvSpPr>
          <p:cNvPr id="25" name="Shape 22"/>
          <p:cNvSpPr/>
          <p:nvPr/>
        </p:nvSpPr>
        <p:spPr>
          <a:xfrm>
            <a:off x="7635240" y="3858768"/>
            <a:ext cx="3858768" cy="1024128"/>
          </a:xfrm>
          <a:prstGeom prst="roundRect">
            <a:avLst/>
          </a:prstGeom>
          <a:solidFill>
            <a:srgbClr val="FFFFFF"/>
          </a:solidFill>
          <a:ln w="12700">
            <a:solidFill>
              <a:srgbClr val="D6E2EC"/>
            </a:solidFill>
            <a:prstDash val="solid"/>
          </a:ln>
          <a:effectLst>
            <a:outerShdw blurRad="12700" dist="50800" dir="2700000" algn="bl" rotWithShape="0">
              <a:srgbClr val="D9E1E8">
                <a:alpha val="25000"/>
              </a:srgbClr>
            </a:outerShdw>
          </a:effectLst>
        </p:spPr>
        <p:txBody>
          <a:bodyPr/>
          <a:lstStyle/>
          <a:p>
            <a:endParaRPr lang="ja-JP" altLang="en-US"/>
          </a:p>
        </p:txBody>
      </p:sp>
      <p:sp>
        <p:nvSpPr>
          <p:cNvPr id="26" name="Shape 23"/>
          <p:cNvSpPr/>
          <p:nvPr/>
        </p:nvSpPr>
        <p:spPr>
          <a:xfrm>
            <a:off x="7635240" y="3858768"/>
            <a:ext cx="73152" cy="1024128"/>
          </a:xfrm>
          <a:prstGeom prst="rect">
            <a:avLst/>
          </a:prstGeom>
          <a:solidFill>
            <a:srgbClr val="C84A4A"/>
          </a:solidFill>
          <a:ln w="12700">
            <a:solidFill>
              <a:srgbClr val="C84A4A"/>
            </a:solidFill>
            <a:prstDash val="solid"/>
          </a:ln>
        </p:spPr>
        <p:txBody>
          <a:bodyPr/>
          <a:lstStyle/>
          <a:p>
            <a:endParaRPr lang="ja-JP" altLang="en-US"/>
          </a:p>
        </p:txBody>
      </p:sp>
      <p:sp>
        <p:nvSpPr>
          <p:cNvPr id="27" name="Text 24"/>
          <p:cNvSpPr/>
          <p:nvPr/>
        </p:nvSpPr>
        <p:spPr>
          <a:xfrm>
            <a:off x="7836408" y="4005072"/>
            <a:ext cx="3566160" cy="210312"/>
          </a:xfrm>
          <a:prstGeom prst="rect">
            <a:avLst/>
          </a:prstGeom>
          <a:noFill/>
          <a:ln/>
        </p:spPr>
        <p:txBody>
          <a:bodyPr wrap="square" lIns="0" tIns="0" rIns="0" bIns="0" rtlCol="0" anchor="ctr"/>
          <a:lstStyle/>
          <a:p>
            <a:pPr marL="0" indent="0">
              <a:buNone/>
            </a:pPr>
            <a:r>
              <a:rPr lang="en-US" sz="1050" dirty="0">
                <a:solidFill>
                  <a:srgbClr val="6B7280"/>
                </a:solidFill>
              </a:rPr>
              <a:t>Maximum queue</a:t>
            </a:r>
            <a:endParaRPr lang="en-US" sz="1050" dirty="0"/>
          </a:p>
        </p:txBody>
      </p:sp>
      <p:sp>
        <p:nvSpPr>
          <p:cNvPr id="28" name="Text 25"/>
          <p:cNvSpPr/>
          <p:nvPr/>
        </p:nvSpPr>
        <p:spPr>
          <a:xfrm>
            <a:off x="7836408" y="4279392"/>
            <a:ext cx="3529584" cy="347472"/>
          </a:xfrm>
          <a:prstGeom prst="rect">
            <a:avLst/>
          </a:prstGeom>
          <a:noFill/>
          <a:ln/>
        </p:spPr>
        <p:txBody>
          <a:bodyPr wrap="square" lIns="0" tIns="0" rIns="0" bIns="0" rtlCol="0" anchor="ctr"/>
          <a:lstStyle/>
          <a:p>
            <a:pPr marL="0" indent="0">
              <a:buNone/>
            </a:pPr>
            <a:r>
              <a:rPr lang="en-US" sz="2300" b="1" dirty="0">
                <a:solidFill>
                  <a:srgbClr val="17324D"/>
                </a:solidFill>
              </a:rPr>
              <a:t>270.52</a:t>
            </a:r>
            <a:endParaRPr lang="en-US" sz="2300" dirty="0"/>
          </a:p>
        </p:txBody>
      </p:sp>
      <p:sp>
        <p:nvSpPr>
          <p:cNvPr id="29" name="Text 26"/>
          <p:cNvSpPr/>
          <p:nvPr/>
        </p:nvSpPr>
        <p:spPr>
          <a:xfrm>
            <a:off x="10899648" y="4407408"/>
            <a:ext cx="502920" cy="164592"/>
          </a:xfrm>
          <a:prstGeom prst="rect">
            <a:avLst/>
          </a:prstGeom>
          <a:noFill/>
          <a:ln/>
        </p:spPr>
        <p:txBody>
          <a:bodyPr wrap="square" lIns="0" tIns="0" rIns="0" bIns="0" rtlCol="0" anchor="ctr"/>
          <a:lstStyle/>
          <a:p>
            <a:pPr marL="0" indent="0" algn="r">
              <a:buNone/>
            </a:pPr>
            <a:r>
              <a:rPr lang="en-US" sz="1000" dirty="0">
                <a:solidFill>
                  <a:srgbClr val="6B7280"/>
                </a:solidFill>
              </a:rPr>
              <a:t>students</a:t>
            </a:r>
            <a:endParaRPr lang="en-US" sz="1000" dirty="0"/>
          </a:p>
        </p:txBody>
      </p:sp>
      <p:sp>
        <p:nvSpPr>
          <p:cNvPr id="30" name="Shape 27"/>
          <p:cNvSpPr/>
          <p:nvPr/>
        </p:nvSpPr>
        <p:spPr>
          <a:xfrm>
            <a:off x="7635240" y="5230368"/>
            <a:ext cx="3858768" cy="658368"/>
          </a:xfrm>
          <a:prstGeom prst="roundRect">
            <a:avLst/>
          </a:prstGeom>
          <a:solidFill>
            <a:srgbClr val="FFF3E9"/>
          </a:solidFill>
          <a:ln w="12700">
            <a:solidFill>
              <a:srgbClr val="F0D3B9"/>
            </a:solidFill>
            <a:prstDash val="solid"/>
          </a:ln>
        </p:spPr>
        <p:txBody>
          <a:bodyPr/>
          <a:lstStyle/>
          <a:p>
            <a:endParaRPr lang="ja-JP" altLang="en-US"/>
          </a:p>
        </p:txBody>
      </p:sp>
      <p:sp>
        <p:nvSpPr>
          <p:cNvPr id="31" name="Text 28"/>
          <p:cNvSpPr/>
          <p:nvPr/>
        </p:nvSpPr>
        <p:spPr>
          <a:xfrm>
            <a:off x="7882128" y="5413248"/>
            <a:ext cx="3383280" cy="292608"/>
          </a:xfrm>
          <a:prstGeom prst="rect">
            <a:avLst/>
          </a:prstGeom>
          <a:noFill/>
          <a:ln/>
        </p:spPr>
        <p:txBody>
          <a:bodyPr wrap="square" lIns="0" tIns="0" rIns="0" bIns="0" rtlCol="0" anchor="ctr">
            <a:normAutofit fontScale="92500" lnSpcReduction="10000"/>
          </a:bodyPr>
          <a:lstStyle/>
          <a:p>
            <a:pPr marL="0" indent="0" algn="ctr">
              <a:buNone/>
            </a:pPr>
            <a:r>
              <a:rPr lang="en-US" sz="1120" b="1" dirty="0">
                <a:solidFill>
                  <a:srgbClr val="E07A2D"/>
                </a:solidFill>
              </a:rPr>
              <a:t>At 6-minute intervals, the system cannot fully clear the morning demand by 10:00.</a:t>
            </a:r>
            <a:endParaRPr lang="en-US" sz="1120" dirty="0"/>
          </a:p>
        </p:txBody>
      </p:sp>
      <p:sp>
        <p:nvSpPr>
          <p:cNvPr id="32"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47472"/>
            <a:ext cx="11155680" cy="438912"/>
          </a:xfrm>
          <a:prstGeom prst="rect">
            <a:avLst/>
          </a:prstGeom>
          <a:noFill/>
          <a:ln/>
        </p:spPr>
        <p:txBody>
          <a:bodyPr wrap="square" lIns="0" tIns="0" rIns="0" bIns="0" rtlCol="0" anchor="ctr"/>
          <a:lstStyle/>
          <a:p>
            <a:pPr marL="0" indent="0">
              <a:buNone/>
            </a:pPr>
            <a:r>
              <a:rPr lang="en-US" sz="2500" b="1" dirty="0">
                <a:solidFill>
                  <a:srgbClr val="17324D"/>
                </a:solidFill>
                <a:latin typeface="Aptos Display" pitchFamily="34" charset="0"/>
                <a:ea typeface="Aptos Display" pitchFamily="34" charset="-122"/>
                <a:cs typeface="Aptos Display" pitchFamily="34" charset="-120"/>
              </a:rPr>
              <a:t>6. Effect of Changing bus_interval</a:t>
            </a:r>
            <a:endParaRPr lang="en-US" sz="2500" dirty="0"/>
          </a:p>
        </p:txBody>
      </p:sp>
      <p:sp>
        <p:nvSpPr>
          <p:cNvPr id="3" name="Text 1"/>
          <p:cNvSpPr/>
          <p:nvPr/>
        </p:nvSpPr>
        <p:spPr>
          <a:xfrm>
            <a:off x="530352" y="841248"/>
            <a:ext cx="10881360" cy="237744"/>
          </a:xfrm>
          <a:prstGeom prst="rect">
            <a:avLst/>
          </a:prstGeom>
          <a:noFill/>
          <a:ln/>
        </p:spPr>
        <p:txBody>
          <a:bodyPr wrap="square" lIns="0" tIns="0" rIns="0" bIns="0" rtlCol="0" anchor="ctr"/>
          <a:lstStyle/>
          <a:p>
            <a:pPr marL="0" indent="0">
              <a:buNone/>
            </a:pPr>
            <a:r>
              <a:rPr lang="en-US" sz="1150" dirty="0">
                <a:solidFill>
                  <a:srgbClr val="6B7280"/>
                </a:solidFill>
              </a:rPr>
              <a:t>Shorter intervals reduce congestion and waiting time</a:t>
            </a:r>
            <a:endParaRPr lang="en-US" sz="1150" dirty="0"/>
          </a:p>
        </p:txBody>
      </p:sp>
      <p:pic>
        <p:nvPicPr>
          <p:cNvPr id="4" name="Image 0" descr="/mnt/data/bus_interval=4.jpg"/>
          <p:cNvPicPr>
            <a:picLocks noChangeAspect="1"/>
          </p:cNvPicPr>
          <p:nvPr/>
        </p:nvPicPr>
        <p:blipFill>
          <a:blip r:embed="rId3"/>
          <a:stretch>
            <a:fillRect/>
          </a:stretch>
        </p:blipFill>
        <p:spPr>
          <a:xfrm>
            <a:off x="502920" y="1234440"/>
            <a:ext cx="3547872" cy="2121408"/>
          </a:xfrm>
          <a:prstGeom prst="rect">
            <a:avLst/>
          </a:prstGeom>
        </p:spPr>
      </p:pic>
      <p:sp>
        <p:nvSpPr>
          <p:cNvPr id="5" name="Shape 2"/>
          <p:cNvSpPr/>
          <p:nvPr/>
        </p:nvSpPr>
        <p:spPr>
          <a:xfrm>
            <a:off x="1746504" y="3456432"/>
            <a:ext cx="1024128" cy="320040"/>
          </a:xfrm>
          <a:prstGeom prst="roundRect">
            <a:avLst>
              <a:gd name="adj" fmla="val 22857"/>
            </a:avLst>
          </a:prstGeom>
          <a:solidFill>
            <a:srgbClr val="2E8B57"/>
          </a:solidFill>
          <a:ln w="12700">
            <a:solidFill>
              <a:srgbClr val="2E8B57"/>
            </a:solidFill>
            <a:prstDash val="solid"/>
          </a:ln>
        </p:spPr>
        <p:txBody>
          <a:bodyPr/>
          <a:lstStyle/>
          <a:p>
            <a:endParaRPr lang="ja-JP" altLang="en-US"/>
          </a:p>
        </p:txBody>
      </p:sp>
      <p:sp>
        <p:nvSpPr>
          <p:cNvPr id="6" name="Text 3"/>
          <p:cNvSpPr/>
          <p:nvPr/>
        </p:nvSpPr>
        <p:spPr>
          <a:xfrm>
            <a:off x="1801368" y="3515868"/>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4 min</a:t>
            </a:r>
            <a:endParaRPr lang="en-US" sz="1100" dirty="0"/>
          </a:p>
        </p:txBody>
      </p:sp>
      <p:pic>
        <p:nvPicPr>
          <p:cNvPr id="7" name="Image 1" descr="/mnt/data/bus_interval=5.jpg"/>
          <p:cNvPicPr>
            <a:picLocks noChangeAspect="1"/>
          </p:cNvPicPr>
          <p:nvPr/>
        </p:nvPicPr>
        <p:blipFill>
          <a:blip r:embed="rId4"/>
          <a:stretch>
            <a:fillRect/>
          </a:stretch>
        </p:blipFill>
        <p:spPr>
          <a:xfrm>
            <a:off x="4315968" y="1234440"/>
            <a:ext cx="3547872" cy="2121408"/>
          </a:xfrm>
          <a:prstGeom prst="rect">
            <a:avLst/>
          </a:prstGeom>
        </p:spPr>
      </p:pic>
      <p:sp>
        <p:nvSpPr>
          <p:cNvPr id="8" name="Shape 4"/>
          <p:cNvSpPr/>
          <p:nvPr/>
        </p:nvSpPr>
        <p:spPr>
          <a:xfrm>
            <a:off x="5559552" y="3456432"/>
            <a:ext cx="1024128" cy="320040"/>
          </a:xfrm>
          <a:prstGeom prst="roundRect">
            <a:avLst>
              <a:gd name="adj" fmla="val 22857"/>
            </a:avLst>
          </a:prstGeom>
          <a:solidFill>
            <a:srgbClr val="E07A2D"/>
          </a:solidFill>
          <a:ln w="12700">
            <a:solidFill>
              <a:srgbClr val="E07A2D"/>
            </a:solidFill>
            <a:prstDash val="solid"/>
          </a:ln>
        </p:spPr>
        <p:txBody>
          <a:bodyPr/>
          <a:lstStyle/>
          <a:p>
            <a:endParaRPr lang="ja-JP" altLang="en-US"/>
          </a:p>
        </p:txBody>
      </p:sp>
      <p:sp>
        <p:nvSpPr>
          <p:cNvPr id="9" name="Text 5"/>
          <p:cNvSpPr/>
          <p:nvPr/>
        </p:nvSpPr>
        <p:spPr>
          <a:xfrm>
            <a:off x="5614416" y="3515868"/>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5 min</a:t>
            </a:r>
            <a:endParaRPr lang="en-US" sz="1100" dirty="0"/>
          </a:p>
        </p:txBody>
      </p:sp>
      <p:pic>
        <p:nvPicPr>
          <p:cNvPr id="10" name="Image 2" descr="/mnt/data/bus_interval=6.jpg"/>
          <p:cNvPicPr>
            <a:picLocks noChangeAspect="1"/>
          </p:cNvPicPr>
          <p:nvPr/>
        </p:nvPicPr>
        <p:blipFill>
          <a:blip r:embed="rId5"/>
          <a:stretch>
            <a:fillRect/>
          </a:stretch>
        </p:blipFill>
        <p:spPr>
          <a:xfrm>
            <a:off x="8129016" y="1234440"/>
            <a:ext cx="3547872" cy="2121408"/>
          </a:xfrm>
          <a:prstGeom prst="rect">
            <a:avLst/>
          </a:prstGeom>
        </p:spPr>
      </p:pic>
      <p:sp>
        <p:nvSpPr>
          <p:cNvPr id="11" name="Shape 6"/>
          <p:cNvSpPr/>
          <p:nvPr/>
        </p:nvSpPr>
        <p:spPr>
          <a:xfrm>
            <a:off x="9372600" y="3456432"/>
            <a:ext cx="1024128" cy="320040"/>
          </a:xfrm>
          <a:prstGeom prst="roundRect">
            <a:avLst>
              <a:gd name="adj" fmla="val 22857"/>
            </a:avLst>
          </a:prstGeom>
          <a:solidFill>
            <a:srgbClr val="C84A4A"/>
          </a:solidFill>
          <a:ln w="12700">
            <a:solidFill>
              <a:srgbClr val="C84A4A"/>
            </a:solidFill>
            <a:prstDash val="solid"/>
          </a:ln>
        </p:spPr>
        <p:txBody>
          <a:bodyPr/>
          <a:lstStyle/>
          <a:p>
            <a:endParaRPr lang="ja-JP" altLang="en-US"/>
          </a:p>
        </p:txBody>
      </p:sp>
      <p:sp>
        <p:nvSpPr>
          <p:cNvPr id="12" name="Text 7"/>
          <p:cNvSpPr/>
          <p:nvPr/>
        </p:nvSpPr>
        <p:spPr>
          <a:xfrm>
            <a:off x="9427464" y="3515868"/>
            <a:ext cx="914400" cy="164592"/>
          </a:xfrm>
          <a:prstGeom prst="rect">
            <a:avLst/>
          </a:prstGeom>
          <a:noFill/>
          <a:ln/>
        </p:spPr>
        <p:txBody>
          <a:bodyPr wrap="square" lIns="0" tIns="0" rIns="0" bIns="0" rtlCol="0" anchor="ctr"/>
          <a:lstStyle/>
          <a:p>
            <a:pPr marL="0" indent="0" algn="ctr">
              <a:buNone/>
            </a:pPr>
            <a:r>
              <a:rPr lang="en-US" sz="1100" b="1" dirty="0">
                <a:solidFill>
                  <a:srgbClr val="FFFFFF"/>
                </a:solidFill>
              </a:rPr>
              <a:t>6 min</a:t>
            </a:r>
            <a:endParaRPr lang="en-US" sz="1100" dirty="0"/>
          </a:p>
        </p:txBody>
      </p:sp>
      <p:sp>
        <p:nvSpPr>
          <p:cNvPr id="13" name="Shape 8"/>
          <p:cNvSpPr/>
          <p:nvPr/>
        </p:nvSpPr>
        <p:spPr>
          <a:xfrm>
            <a:off x="685800" y="3986784"/>
            <a:ext cx="2834640" cy="338328"/>
          </a:xfrm>
          <a:prstGeom prst="rect">
            <a:avLst/>
          </a:prstGeom>
          <a:solidFill>
            <a:srgbClr val="2367A7"/>
          </a:solidFill>
          <a:ln w="8890">
            <a:solidFill>
              <a:srgbClr val="D7E1EA"/>
            </a:solidFill>
            <a:prstDash val="solid"/>
          </a:ln>
        </p:spPr>
        <p:txBody>
          <a:bodyPr/>
          <a:lstStyle/>
          <a:p>
            <a:endParaRPr lang="ja-JP" altLang="en-US"/>
          </a:p>
        </p:txBody>
      </p:sp>
      <p:sp>
        <p:nvSpPr>
          <p:cNvPr id="14" name="Text 9"/>
          <p:cNvSpPr/>
          <p:nvPr/>
        </p:nvSpPr>
        <p:spPr>
          <a:xfrm>
            <a:off x="749808" y="4069080"/>
            <a:ext cx="2706624" cy="164592"/>
          </a:xfrm>
          <a:prstGeom prst="rect">
            <a:avLst/>
          </a:prstGeom>
          <a:noFill/>
          <a:ln/>
        </p:spPr>
        <p:txBody>
          <a:bodyPr wrap="square" lIns="0" tIns="0" rIns="0" bIns="0" rtlCol="0" anchor="ctr"/>
          <a:lstStyle/>
          <a:p>
            <a:pPr marL="0" indent="0" algn="l">
              <a:buNone/>
            </a:pPr>
            <a:r>
              <a:rPr lang="en-US" sz="1050" b="1" dirty="0">
                <a:solidFill>
                  <a:srgbClr val="FFFFFF"/>
                </a:solidFill>
              </a:rPr>
              <a:t>Metric</a:t>
            </a:r>
            <a:endParaRPr lang="en-US" sz="1050" dirty="0"/>
          </a:p>
        </p:txBody>
      </p:sp>
      <p:sp>
        <p:nvSpPr>
          <p:cNvPr id="15" name="Shape 10"/>
          <p:cNvSpPr/>
          <p:nvPr/>
        </p:nvSpPr>
        <p:spPr>
          <a:xfrm>
            <a:off x="3520440" y="3986784"/>
            <a:ext cx="1965960" cy="338328"/>
          </a:xfrm>
          <a:prstGeom prst="rect">
            <a:avLst/>
          </a:prstGeom>
          <a:solidFill>
            <a:srgbClr val="2367A7"/>
          </a:solidFill>
          <a:ln w="8890">
            <a:solidFill>
              <a:srgbClr val="D7E1EA"/>
            </a:solidFill>
            <a:prstDash val="solid"/>
          </a:ln>
        </p:spPr>
        <p:txBody>
          <a:bodyPr/>
          <a:lstStyle/>
          <a:p>
            <a:endParaRPr lang="ja-JP" altLang="en-US"/>
          </a:p>
        </p:txBody>
      </p:sp>
      <p:sp>
        <p:nvSpPr>
          <p:cNvPr id="16" name="Text 11"/>
          <p:cNvSpPr/>
          <p:nvPr/>
        </p:nvSpPr>
        <p:spPr>
          <a:xfrm>
            <a:off x="3584448" y="4069080"/>
            <a:ext cx="1837944" cy="164592"/>
          </a:xfrm>
          <a:prstGeom prst="rect">
            <a:avLst/>
          </a:prstGeom>
          <a:noFill/>
          <a:ln/>
        </p:spPr>
        <p:txBody>
          <a:bodyPr wrap="square" lIns="0" tIns="0" rIns="0" bIns="0" rtlCol="0" anchor="ctr"/>
          <a:lstStyle/>
          <a:p>
            <a:pPr marL="0" indent="0" algn="ctr">
              <a:buNone/>
            </a:pPr>
            <a:r>
              <a:rPr lang="en-US" sz="1050" b="1" dirty="0">
                <a:solidFill>
                  <a:srgbClr val="FFFFFF"/>
                </a:solidFill>
              </a:rPr>
              <a:t>4 min</a:t>
            </a:r>
            <a:endParaRPr lang="en-US" sz="1050" dirty="0"/>
          </a:p>
        </p:txBody>
      </p:sp>
      <p:sp>
        <p:nvSpPr>
          <p:cNvPr id="17" name="Shape 12"/>
          <p:cNvSpPr/>
          <p:nvPr/>
        </p:nvSpPr>
        <p:spPr>
          <a:xfrm>
            <a:off x="5486400" y="3986784"/>
            <a:ext cx="1965960" cy="338328"/>
          </a:xfrm>
          <a:prstGeom prst="rect">
            <a:avLst/>
          </a:prstGeom>
          <a:solidFill>
            <a:srgbClr val="2367A7"/>
          </a:solidFill>
          <a:ln w="8890">
            <a:solidFill>
              <a:srgbClr val="D7E1EA"/>
            </a:solidFill>
            <a:prstDash val="solid"/>
          </a:ln>
        </p:spPr>
        <p:txBody>
          <a:bodyPr/>
          <a:lstStyle/>
          <a:p>
            <a:endParaRPr lang="ja-JP" altLang="en-US"/>
          </a:p>
        </p:txBody>
      </p:sp>
      <p:sp>
        <p:nvSpPr>
          <p:cNvPr id="18" name="Text 13"/>
          <p:cNvSpPr/>
          <p:nvPr/>
        </p:nvSpPr>
        <p:spPr>
          <a:xfrm>
            <a:off x="5550408" y="4069080"/>
            <a:ext cx="1837944" cy="164592"/>
          </a:xfrm>
          <a:prstGeom prst="rect">
            <a:avLst/>
          </a:prstGeom>
          <a:noFill/>
          <a:ln/>
        </p:spPr>
        <p:txBody>
          <a:bodyPr wrap="square" lIns="0" tIns="0" rIns="0" bIns="0" rtlCol="0" anchor="ctr"/>
          <a:lstStyle/>
          <a:p>
            <a:pPr marL="0" indent="0" algn="ctr">
              <a:buNone/>
            </a:pPr>
            <a:r>
              <a:rPr lang="en-US" sz="1050" b="1" dirty="0">
                <a:solidFill>
                  <a:srgbClr val="FFFFFF"/>
                </a:solidFill>
              </a:rPr>
              <a:t>5 min</a:t>
            </a:r>
            <a:endParaRPr lang="en-US" sz="1050" dirty="0"/>
          </a:p>
        </p:txBody>
      </p:sp>
      <p:sp>
        <p:nvSpPr>
          <p:cNvPr id="19" name="Shape 14"/>
          <p:cNvSpPr/>
          <p:nvPr/>
        </p:nvSpPr>
        <p:spPr>
          <a:xfrm>
            <a:off x="7452360" y="3986784"/>
            <a:ext cx="1965960" cy="338328"/>
          </a:xfrm>
          <a:prstGeom prst="rect">
            <a:avLst/>
          </a:prstGeom>
          <a:solidFill>
            <a:srgbClr val="2367A7"/>
          </a:solidFill>
          <a:ln w="8890">
            <a:solidFill>
              <a:srgbClr val="D7E1EA"/>
            </a:solidFill>
            <a:prstDash val="solid"/>
          </a:ln>
        </p:spPr>
        <p:txBody>
          <a:bodyPr/>
          <a:lstStyle/>
          <a:p>
            <a:endParaRPr lang="ja-JP" altLang="en-US"/>
          </a:p>
        </p:txBody>
      </p:sp>
      <p:sp>
        <p:nvSpPr>
          <p:cNvPr id="20" name="Text 15"/>
          <p:cNvSpPr/>
          <p:nvPr/>
        </p:nvSpPr>
        <p:spPr>
          <a:xfrm>
            <a:off x="7516368" y="4069080"/>
            <a:ext cx="1837944" cy="164592"/>
          </a:xfrm>
          <a:prstGeom prst="rect">
            <a:avLst/>
          </a:prstGeom>
          <a:noFill/>
          <a:ln/>
        </p:spPr>
        <p:txBody>
          <a:bodyPr wrap="square" lIns="0" tIns="0" rIns="0" bIns="0" rtlCol="0" anchor="ctr"/>
          <a:lstStyle/>
          <a:p>
            <a:pPr marL="0" indent="0" algn="ctr">
              <a:buNone/>
            </a:pPr>
            <a:r>
              <a:rPr lang="en-US" sz="1050" b="1" dirty="0">
                <a:solidFill>
                  <a:srgbClr val="FFFFFF"/>
                </a:solidFill>
              </a:rPr>
              <a:t>6 min</a:t>
            </a:r>
            <a:endParaRPr lang="en-US" sz="1050" dirty="0"/>
          </a:p>
        </p:txBody>
      </p:sp>
      <p:sp>
        <p:nvSpPr>
          <p:cNvPr id="21" name="Shape 16"/>
          <p:cNvSpPr/>
          <p:nvPr/>
        </p:nvSpPr>
        <p:spPr>
          <a:xfrm>
            <a:off x="685800" y="4325112"/>
            <a:ext cx="2834640" cy="338328"/>
          </a:xfrm>
          <a:prstGeom prst="rect">
            <a:avLst/>
          </a:prstGeom>
          <a:solidFill>
            <a:srgbClr val="FFFFFF"/>
          </a:solidFill>
          <a:ln w="8890">
            <a:solidFill>
              <a:srgbClr val="D7E1EA"/>
            </a:solidFill>
            <a:prstDash val="solid"/>
          </a:ln>
        </p:spPr>
        <p:txBody>
          <a:bodyPr/>
          <a:lstStyle/>
          <a:p>
            <a:endParaRPr lang="ja-JP" altLang="en-US"/>
          </a:p>
        </p:txBody>
      </p:sp>
      <p:sp>
        <p:nvSpPr>
          <p:cNvPr id="22" name="Text 17"/>
          <p:cNvSpPr/>
          <p:nvPr/>
        </p:nvSpPr>
        <p:spPr>
          <a:xfrm>
            <a:off x="749808" y="4407408"/>
            <a:ext cx="2706624" cy="164592"/>
          </a:xfrm>
          <a:prstGeom prst="rect">
            <a:avLst/>
          </a:prstGeom>
          <a:noFill/>
          <a:ln/>
        </p:spPr>
        <p:txBody>
          <a:bodyPr wrap="square" lIns="0" tIns="0" rIns="0" bIns="0" rtlCol="0" anchor="ctr"/>
          <a:lstStyle/>
          <a:p>
            <a:pPr marL="0" indent="0" algn="l">
              <a:buNone/>
            </a:pPr>
            <a:r>
              <a:rPr lang="en-US" sz="1020" b="1" dirty="0">
                <a:solidFill>
                  <a:srgbClr val="17324D"/>
                </a:solidFill>
              </a:rPr>
              <a:t>Transported students</a:t>
            </a:r>
            <a:endParaRPr lang="en-US" sz="1020" dirty="0"/>
          </a:p>
        </p:txBody>
      </p:sp>
      <p:sp>
        <p:nvSpPr>
          <p:cNvPr id="23" name="Shape 18"/>
          <p:cNvSpPr/>
          <p:nvPr/>
        </p:nvSpPr>
        <p:spPr>
          <a:xfrm>
            <a:off x="3520440" y="4325112"/>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24" name="Text 19"/>
          <p:cNvSpPr/>
          <p:nvPr/>
        </p:nvSpPr>
        <p:spPr>
          <a:xfrm>
            <a:off x="3584448" y="4407408"/>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1,536.21</a:t>
            </a:r>
            <a:endParaRPr lang="en-US" sz="1020" dirty="0"/>
          </a:p>
        </p:txBody>
      </p:sp>
      <p:sp>
        <p:nvSpPr>
          <p:cNvPr id="25" name="Shape 20"/>
          <p:cNvSpPr/>
          <p:nvPr/>
        </p:nvSpPr>
        <p:spPr>
          <a:xfrm>
            <a:off x="5486400" y="4325112"/>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26" name="Text 21"/>
          <p:cNvSpPr/>
          <p:nvPr/>
        </p:nvSpPr>
        <p:spPr>
          <a:xfrm>
            <a:off x="5550408" y="4407408"/>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1,527.38</a:t>
            </a:r>
            <a:endParaRPr lang="en-US" sz="1020" dirty="0"/>
          </a:p>
        </p:txBody>
      </p:sp>
      <p:sp>
        <p:nvSpPr>
          <p:cNvPr id="27" name="Shape 22"/>
          <p:cNvSpPr/>
          <p:nvPr/>
        </p:nvSpPr>
        <p:spPr>
          <a:xfrm>
            <a:off x="7452360" y="4325112"/>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28" name="Text 23"/>
          <p:cNvSpPr/>
          <p:nvPr/>
        </p:nvSpPr>
        <p:spPr>
          <a:xfrm>
            <a:off x="7516368" y="4407408"/>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1,478.11</a:t>
            </a:r>
            <a:endParaRPr lang="en-US" sz="1020" dirty="0"/>
          </a:p>
        </p:txBody>
      </p:sp>
      <p:sp>
        <p:nvSpPr>
          <p:cNvPr id="29" name="Shape 24"/>
          <p:cNvSpPr/>
          <p:nvPr/>
        </p:nvSpPr>
        <p:spPr>
          <a:xfrm>
            <a:off x="685800" y="4663440"/>
            <a:ext cx="2834640" cy="338328"/>
          </a:xfrm>
          <a:prstGeom prst="rect">
            <a:avLst/>
          </a:prstGeom>
          <a:solidFill>
            <a:srgbClr val="F4F7FA"/>
          </a:solidFill>
          <a:ln w="8890">
            <a:solidFill>
              <a:srgbClr val="D7E1EA"/>
            </a:solidFill>
            <a:prstDash val="solid"/>
          </a:ln>
        </p:spPr>
        <p:txBody>
          <a:bodyPr/>
          <a:lstStyle/>
          <a:p>
            <a:endParaRPr lang="ja-JP" altLang="en-US"/>
          </a:p>
        </p:txBody>
      </p:sp>
      <p:sp>
        <p:nvSpPr>
          <p:cNvPr id="30" name="Text 25"/>
          <p:cNvSpPr/>
          <p:nvPr/>
        </p:nvSpPr>
        <p:spPr>
          <a:xfrm>
            <a:off x="749808" y="4745736"/>
            <a:ext cx="2706624" cy="164592"/>
          </a:xfrm>
          <a:prstGeom prst="rect">
            <a:avLst/>
          </a:prstGeom>
          <a:noFill/>
          <a:ln/>
        </p:spPr>
        <p:txBody>
          <a:bodyPr wrap="square" lIns="0" tIns="0" rIns="0" bIns="0" rtlCol="0" anchor="ctr"/>
          <a:lstStyle/>
          <a:p>
            <a:pPr marL="0" indent="0" algn="l">
              <a:buNone/>
            </a:pPr>
            <a:r>
              <a:rPr lang="en-US" sz="1020" b="1" dirty="0">
                <a:solidFill>
                  <a:srgbClr val="17324D"/>
                </a:solidFill>
              </a:rPr>
              <a:t>Remaining at 10:00</a:t>
            </a:r>
            <a:endParaRPr lang="en-US" sz="1020" dirty="0"/>
          </a:p>
        </p:txBody>
      </p:sp>
      <p:sp>
        <p:nvSpPr>
          <p:cNvPr id="31" name="Shape 26"/>
          <p:cNvSpPr/>
          <p:nvPr/>
        </p:nvSpPr>
        <p:spPr>
          <a:xfrm>
            <a:off x="3520440" y="4663440"/>
            <a:ext cx="1965960" cy="338328"/>
          </a:xfrm>
          <a:prstGeom prst="rect">
            <a:avLst/>
          </a:prstGeom>
          <a:solidFill>
            <a:srgbClr val="F4F7FA"/>
          </a:solidFill>
          <a:ln w="8890">
            <a:solidFill>
              <a:srgbClr val="D7E1EA"/>
            </a:solidFill>
            <a:prstDash val="solid"/>
          </a:ln>
        </p:spPr>
        <p:txBody>
          <a:bodyPr/>
          <a:lstStyle/>
          <a:p>
            <a:endParaRPr lang="ja-JP" altLang="en-US"/>
          </a:p>
        </p:txBody>
      </p:sp>
      <p:sp>
        <p:nvSpPr>
          <p:cNvPr id="32" name="Text 27"/>
          <p:cNvSpPr/>
          <p:nvPr/>
        </p:nvSpPr>
        <p:spPr>
          <a:xfrm>
            <a:off x="3584448" y="4745736"/>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88.40</a:t>
            </a:r>
            <a:endParaRPr lang="en-US" sz="1020" dirty="0"/>
          </a:p>
        </p:txBody>
      </p:sp>
      <p:sp>
        <p:nvSpPr>
          <p:cNvPr id="33" name="Shape 28"/>
          <p:cNvSpPr/>
          <p:nvPr/>
        </p:nvSpPr>
        <p:spPr>
          <a:xfrm>
            <a:off x="5486400" y="4663440"/>
            <a:ext cx="1965960" cy="338328"/>
          </a:xfrm>
          <a:prstGeom prst="rect">
            <a:avLst/>
          </a:prstGeom>
          <a:solidFill>
            <a:srgbClr val="F4F7FA"/>
          </a:solidFill>
          <a:ln w="8890">
            <a:solidFill>
              <a:srgbClr val="D7E1EA"/>
            </a:solidFill>
            <a:prstDash val="solid"/>
          </a:ln>
        </p:spPr>
        <p:txBody>
          <a:bodyPr/>
          <a:lstStyle/>
          <a:p>
            <a:endParaRPr lang="ja-JP" altLang="en-US"/>
          </a:p>
        </p:txBody>
      </p:sp>
      <p:sp>
        <p:nvSpPr>
          <p:cNvPr id="34" name="Text 29"/>
          <p:cNvSpPr/>
          <p:nvPr/>
        </p:nvSpPr>
        <p:spPr>
          <a:xfrm>
            <a:off x="5550408" y="4745736"/>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97.47</a:t>
            </a:r>
            <a:endParaRPr lang="en-US" sz="1020" dirty="0"/>
          </a:p>
        </p:txBody>
      </p:sp>
      <p:sp>
        <p:nvSpPr>
          <p:cNvPr id="35" name="Shape 30"/>
          <p:cNvSpPr/>
          <p:nvPr/>
        </p:nvSpPr>
        <p:spPr>
          <a:xfrm>
            <a:off x="7452360" y="4663440"/>
            <a:ext cx="1965960" cy="338328"/>
          </a:xfrm>
          <a:prstGeom prst="rect">
            <a:avLst/>
          </a:prstGeom>
          <a:solidFill>
            <a:srgbClr val="F4F7FA"/>
          </a:solidFill>
          <a:ln w="8890">
            <a:solidFill>
              <a:srgbClr val="D7E1EA"/>
            </a:solidFill>
            <a:prstDash val="solid"/>
          </a:ln>
        </p:spPr>
        <p:txBody>
          <a:bodyPr/>
          <a:lstStyle/>
          <a:p>
            <a:endParaRPr lang="ja-JP" altLang="en-US"/>
          </a:p>
        </p:txBody>
      </p:sp>
      <p:sp>
        <p:nvSpPr>
          <p:cNvPr id="36" name="Text 31"/>
          <p:cNvSpPr/>
          <p:nvPr/>
        </p:nvSpPr>
        <p:spPr>
          <a:xfrm>
            <a:off x="7516368" y="4745736"/>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147.63</a:t>
            </a:r>
            <a:endParaRPr lang="en-US" sz="1020" dirty="0"/>
          </a:p>
        </p:txBody>
      </p:sp>
      <p:sp>
        <p:nvSpPr>
          <p:cNvPr id="37" name="Shape 32"/>
          <p:cNvSpPr/>
          <p:nvPr/>
        </p:nvSpPr>
        <p:spPr>
          <a:xfrm>
            <a:off x="685800" y="5001768"/>
            <a:ext cx="2834640" cy="338328"/>
          </a:xfrm>
          <a:prstGeom prst="rect">
            <a:avLst/>
          </a:prstGeom>
          <a:solidFill>
            <a:srgbClr val="FFFFFF"/>
          </a:solidFill>
          <a:ln w="8890">
            <a:solidFill>
              <a:srgbClr val="D7E1EA"/>
            </a:solidFill>
            <a:prstDash val="solid"/>
          </a:ln>
        </p:spPr>
        <p:txBody>
          <a:bodyPr/>
          <a:lstStyle/>
          <a:p>
            <a:endParaRPr lang="ja-JP" altLang="en-US"/>
          </a:p>
        </p:txBody>
      </p:sp>
      <p:sp>
        <p:nvSpPr>
          <p:cNvPr id="38" name="Text 33"/>
          <p:cNvSpPr/>
          <p:nvPr/>
        </p:nvSpPr>
        <p:spPr>
          <a:xfrm>
            <a:off x="749808" y="5084064"/>
            <a:ext cx="2706624" cy="164592"/>
          </a:xfrm>
          <a:prstGeom prst="rect">
            <a:avLst/>
          </a:prstGeom>
          <a:noFill/>
          <a:ln/>
        </p:spPr>
        <p:txBody>
          <a:bodyPr wrap="square" lIns="0" tIns="0" rIns="0" bIns="0" rtlCol="0" anchor="ctr"/>
          <a:lstStyle/>
          <a:p>
            <a:pPr marL="0" indent="0" algn="l">
              <a:buNone/>
            </a:pPr>
            <a:r>
              <a:rPr lang="en-US" sz="1020" b="1" dirty="0">
                <a:solidFill>
                  <a:srgbClr val="17324D"/>
                </a:solidFill>
              </a:rPr>
              <a:t>Average wait (min)</a:t>
            </a:r>
            <a:endParaRPr lang="en-US" sz="1020" dirty="0"/>
          </a:p>
        </p:txBody>
      </p:sp>
      <p:sp>
        <p:nvSpPr>
          <p:cNvPr id="39" name="Shape 34"/>
          <p:cNvSpPr/>
          <p:nvPr/>
        </p:nvSpPr>
        <p:spPr>
          <a:xfrm>
            <a:off x="3520440" y="5001768"/>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40" name="Text 35"/>
          <p:cNvSpPr/>
          <p:nvPr/>
        </p:nvSpPr>
        <p:spPr>
          <a:xfrm>
            <a:off x="3584448" y="5084064"/>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5.47</a:t>
            </a:r>
            <a:endParaRPr lang="en-US" sz="1020" dirty="0"/>
          </a:p>
        </p:txBody>
      </p:sp>
      <p:sp>
        <p:nvSpPr>
          <p:cNvPr id="41" name="Shape 36"/>
          <p:cNvSpPr/>
          <p:nvPr/>
        </p:nvSpPr>
        <p:spPr>
          <a:xfrm>
            <a:off x="5486400" y="5001768"/>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42" name="Text 37"/>
          <p:cNvSpPr/>
          <p:nvPr/>
        </p:nvSpPr>
        <p:spPr>
          <a:xfrm>
            <a:off x="5550408" y="5084064"/>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7.39</a:t>
            </a:r>
            <a:endParaRPr lang="en-US" sz="1020" dirty="0"/>
          </a:p>
        </p:txBody>
      </p:sp>
      <p:sp>
        <p:nvSpPr>
          <p:cNvPr id="43" name="Shape 38"/>
          <p:cNvSpPr/>
          <p:nvPr/>
        </p:nvSpPr>
        <p:spPr>
          <a:xfrm>
            <a:off x="7452360" y="5001768"/>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44" name="Text 39"/>
          <p:cNvSpPr/>
          <p:nvPr/>
        </p:nvSpPr>
        <p:spPr>
          <a:xfrm>
            <a:off x="7516368" y="5084064"/>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11.42</a:t>
            </a:r>
            <a:endParaRPr lang="en-US" sz="1020" dirty="0"/>
          </a:p>
        </p:txBody>
      </p:sp>
      <p:sp>
        <p:nvSpPr>
          <p:cNvPr id="45" name="Shape 40"/>
          <p:cNvSpPr/>
          <p:nvPr/>
        </p:nvSpPr>
        <p:spPr>
          <a:xfrm>
            <a:off x="685800" y="5340096"/>
            <a:ext cx="2834640" cy="338328"/>
          </a:xfrm>
          <a:prstGeom prst="rect">
            <a:avLst/>
          </a:prstGeom>
          <a:solidFill>
            <a:srgbClr val="F4F7FA"/>
          </a:solidFill>
          <a:ln w="8890">
            <a:solidFill>
              <a:srgbClr val="D7E1EA"/>
            </a:solidFill>
            <a:prstDash val="solid"/>
          </a:ln>
        </p:spPr>
        <p:txBody>
          <a:bodyPr/>
          <a:lstStyle/>
          <a:p>
            <a:endParaRPr lang="ja-JP" altLang="en-US"/>
          </a:p>
        </p:txBody>
      </p:sp>
      <p:sp>
        <p:nvSpPr>
          <p:cNvPr id="46" name="Text 41"/>
          <p:cNvSpPr/>
          <p:nvPr/>
        </p:nvSpPr>
        <p:spPr>
          <a:xfrm>
            <a:off x="749808" y="5422392"/>
            <a:ext cx="2706624" cy="164592"/>
          </a:xfrm>
          <a:prstGeom prst="rect">
            <a:avLst/>
          </a:prstGeom>
          <a:noFill/>
          <a:ln/>
        </p:spPr>
        <p:txBody>
          <a:bodyPr wrap="square" lIns="0" tIns="0" rIns="0" bIns="0" rtlCol="0" anchor="ctr"/>
          <a:lstStyle/>
          <a:p>
            <a:pPr marL="0" indent="0" algn="l">
              <a:buNone/>
            </a:pPr>
            <a:r>
              <a:rPr lang="en-US" sz="1020" b="1" dirty="0">
                <a:solidFill>
                  <a:srgbClr val="17324D"/>
                </a:solidFill>
              </a:rPr>
              <a:t>Maximum wait (min)</a:t>
            </a:r>
            <a:endParaRPr lang="en-US" sz="1020" dirty="0"/>
          </a:p>
        </p:txBody>
      </p:sp>
      <p:sp>
        <p:nvSpPr>
          <p:cNvPr id="47" name="Shape 42"/>
          <p:cNvSpPr/>
          <p:nvPr/>
        </p:nvSpPr>
        <p:spPr>
          <a:xfrm>
            <a:off x="3520440" y="5340096"/>
            <a:ext cx="1965960" cy="338328"/>
          </a:xfrm>
          <a:prstGeom prst="rect">
            <a:avLst/>
          </a:prstGeom>
          <a:solidFill>
            <a:srgbClr val="F4F7FA"/>
          </a:solidFill>
          <a:ln w="8890">
            <a:solidFill>
              <a:srgbClr val="D7E1EA"/>
            </a:solidFill>
            <a:prstDash val="solid"/>
          </a:ln>
        </p:spPr>
        <p:txBody>
          <a:bodyPr/>
          <a:lstStyle/>
          <a:p>
            <a:endParaRPr lang="ja-JP" altLang="en-US"/>
          </a:p>
        </p:txBody>
      </p:sp>
      <p:sp>
        <p:nvSpPr>
          <p:cNvPr id="48" name="Text 43"/>
          <p:cNvSpPr/>
          <p:nvPr/>
        </p:nvSpPr>
        <p:spPr>
          <a:xfrm>
            <a:off x="3584448" y="5422392"/>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17.93</a:t>
            </a:r>
            <a:endParaRPr lang="en-US" sz="1020" dirty="0"/>
          </a:p>
        </p:txBody>
      </p:sp>
      <p:sp>
        <p:nvSpPr>
          <p:cNvPr id="49" name="Shape 44"/>
          <p:cNvSpPr/>
          <p:nvPr/>
        </p:nvSpPr>
        <p:spPr>
          <a:xfrm>
            <a:off x="5486400" y="5340096"/>
            <a:ext cx="1965960" cy="338328"/>
          </a:xfrm>
          <a:prstGeom prst="rect">
            <a:avLst/>
          </a:prstGeom>
          <a:solidFill>
            <a:srgbClr val="F4F7FA"/>
          </a:solidFill>
          <a:ln w="8890">
            <a:solidFill>
              <a:srgbClr val="D7E1EA"/>
            </a:solidFill>
            <a:prstDash val="solid"/>
          </a:ln>
        </p:spPr>
        <p:txBody>
          <a:bodyPr/>
          <a:lstStyle/>
          <a:p>
            <a:endParaRPr lang="ja-JP" altLang="en-US"/>
          </a:p>
        </p:txBody>
      </p:sp>
      <p:sp>
        <p:nvSpPr>
          <p:cNvPr id="50" name="Text 45"/>
          <p:cNvSpPr/>
          <p:nvPr/>
        </p:nvSpPr>
        <p:spPr>
          <a:xfrm>
            <a:off x="5550408" y="5422392"/>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18.60</a:t>
            </a:r>
            <a:endParaRPr lang="en-US" sz="1020" dirty="0"/>
          </a:p>
        </p:txBody>
      </p:sp>
      <p:sp>
        <p:nvSpPr>
          <p:cNvPr id="51" name="Shape 46"/>
          <p:cNvSpPr/>
          <p:nvPr/>
        </p:nvSpPr>
        <p:spPr>
          <a:xfrm>
            <a:off x="7452360" y="5340096"/>
            <a:ext cx="1965960" cy="338328"/>
          </a:xfrm>
          <a:prstGeom prst="rect">
            <a:avLst/>
          </a:prstGeom>
          <a:solidFill>
            <a:srgbClr val="F4F7FA"/>
          </a:solidFill>
          <a:ln w="8890">
            <a:solidFill>
              <a:srgbClr val="D7E1EA"/>
            </a:solidFill>
            <a:prstDash val="solid"/>
          </a:ln>
        </p:spPr>
        <p:txBody>
          <a:bodyPr/>
          <a:lstStyle/>
          <a:p>
            <a:endParaRPr lang="ja-JP" altLang="en-US"/>
          </a:p>
        </p:txBody>
      </p:sp>
      <p:sp>
        <p:nvSpPr>
          <p:cNvPr id="52" name="Text 47"/>
          <p:cNvSpPr/>
          <p:nvPr/>
        </p:nvSpPr>
        <p:spPr>
          <a:xfrm>
            <a:off x="7516368" y="5422392"/>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22.79</a:t>
            </a:r>
            <a:endParaRPr lang="en-US" sz="1020" dirty="0"/>
          </a:p>
        </p:txBody>
      </p:sp>
      <p:sp>
        <p:nvSpPr>
          <p:cNvPr id="53" name="Shape 48"/>
          <p:cNvSpPr/>
          <p:nvPr/>
        </p:nvSpPr>
        <p:spPr>
          <a:xfrm>
            <a:off x="685800" y="5678424"/>
            <a:ext cx="2834640" cy="338328"/>
          </a:xfrm>
          <a:prstGeom prst="rect">
            <a:avLst/>
          </a:prstGeom>
          <a:solidFill>
            <a:srgbClr val="FFFFFF"/>
          </a:solidFill>
          <a:ln w="8890">
            <a:solidFill>
              <a:srgbClr val="D7E1EA"/>
            </a:solidFill>
            <a:prstDash val="solid"/>
          </a:ln>
        </p:spPr>
        <p:txBody>
          <a:bodyPr/>
          <a:lstStyle/>
          <a:p>
            <a:endParaRPr lang="ja-JP" altLang="en-US"/>
          </a:p>
        </p:txBody>
      </p:sp>
      <p:sp>
        <p:nvSpPr>
          <p:cNvPr id="54" name="Text 49"/>
          <p:cNvSpPr/>
          <p:nvPr/>
        </p:nvSpPr>
        <p:spPr>
          <a:xfrm>
            <a:off x="749808" y="5760720"/>
            <a:ext cx="2706624" cy="164592"/>
          </a:xfrm>
          <a:prstGeom prst="rect">
            <a:avLst/>
          </a:prstGeom>
          <a:noFill/>
          <a:ln/>
        </p:spPr>
        <p:txBody>
          <a:bodyPr wrap="square" lIns="0" tIns="0" rIns="0" bIns="0" rtlCol="0" anchor="ctr"/>
          <a:lstStyle/>
          <a:p>
            <a:pPr marL="0" indent="0" algn="l">
              <a:buNone/>
            </a:pPr>
            <a:r>
              <a:rPr lang="en-US" sz="1020" b="1" dirty="0">
                <a:solidFill>
                  <a:srgbClr val="17324D"/>
                </a:solidFill>
              </a:rPr>
              <a:t>Maximum queue</a:t>
            </a:r>
            <a:endParaRPr lang="en-US" sz="1020" dirty="0"/>
          </a:p>
        </p:txBody>
      </p:sp>
      <p:sp>
        <p:nvSpPr>
          <p:cNvPr id="55" name="Shape 50"/>
          <p:cNvSpPr/>
          <p:nvPr/>
        </p:nvSpPr>
        <p:spPr>
          <a:xfrm>
            <a:off x="3520440" y="5678424"/>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56" name="Text 51"/>
          <p:cNvSpPr/>
          <p:nvPr/>
        </p:nvSpPr>
        <p:spPr>
          <a:xfrm>
            <a:off x="3584448" y="5760720"/>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200.67</a:t>
            </a:r>
            <a:endParaRPr lang="en-US" sz="1020" dirty="0"/>
          </a:p>
        </p:txBody>
      </p:sp>
      <p:sp>
        <p:nvSpPr>
          <p:cNvPr id="57" name="Shape 52"/>
          <p:cNvSpPr/>
          <p:nvPr/>
        </p:nvSpPr>
        <p:spPr>
          <a:xfrm>
            <a:off x="5486400" y="5678424"/>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58" name="Text 53"/>
          <p:cNvSpPr/>
          <p:nvPr/>
        </p:nvSpPr>
        <p:spPr>
          <a:xfrm>
            <a:off x="5550408" y="5760720"/>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219.72</a:t>
            </a:r>
            <a:endParaRPr lang="en-US" sz="1020" dirty="0"/>
          </a:p>
        </p:txBody>
      </p:sp>
      <p:sp>
        <p:nvSpPr>
          <p:cNvPr id="59" name="Shape 54"/>
          <p:cNvSpPr/>
          <p:nvPr/>
        </p:nvSpPr>
        <p:spPr>
          <a:xfrm>
            <a:off x="7452360" y="5678424"/>
            <a:ext cx="1965960" cy="338328"/>
          </a:xfrm>
          <a:prstGeom prst="rect">
            <a:avLst/>
          </a:prstGeom>
          <a:solidFill>
            <a:srgbClr val="FFFFFF"/>
          </a:solidFill>
          <a:ln w="8890">
            <a:solidFill>
              <a:srgbClr val="D7E1EA"/>
            </a:solidFill>
            <a:prstDash val="solid"/>
          </a:ln>
        </p:spPr>
        <p:txBody>
          <a:bodyPr/>
          <a:lstStyle/>
          <a:p>
            <a:endParaRPr lang="ja-JP" altLang="en-US"/>
          </a:p>
        </p:txBody>
      </p:sp>
      <p:sp>
        <p:nvSpPr>
          <p:cNvPr id="60" name="Text 55"/>
          <p:cNvSpPr/>
          <p:nvPr/>
        </p:nvSpPr>
        <p:spPr>
          <a:xfrm>
            <a:off x="7516368" y="5760720"/>
            <a:ext cx="1837944" cy="164592"/>
          </a:xfrm>
          <a:prstGeom prst="rect">
            <a:avLst/>
          </a:prstGeom>
          <a:noFill/>
          <a:ln/>
        </p:spPr>
        <p:txBody>
          <a:bodyPr wrap="square" lIns="0" tIns="0" rIns="0" bIns="0" rtlCol="0" anchor="ctr"/>
          <a:lstStyle/>
          <a:p>
            <a:pPr marL="0" indent="0" algn="ctr">
              <a:buNone/>
            </a:pPr>
            <a:r>
              <a:rPr lang="en-US" sz="1020" dirty="0">
                <a:solidFill>
                  <a:srgbClr val="263238"/>
                </a:solidFill>
              </a:rPr>
              <a:t>270.52</a:t>
            </a:r>
            <a:endParaRPr lang="en-US" sz="1020" dirty="0"/>
          </a:p>
        </p:txBody>
      </p:sp>
      <p:sp>
        <p:nvSpPr>
          <p:cNvPr id="61" name="Shape 56"/>
          <p:cNvSpPr/>
          <p:nvPr/>
        </p:nvSpPr>
        <p:spPr>
          <a:xfrm>
            <a:off x="9720072" y="3986784"/>
            <a:ext cx="1783080" cy="2029968"/>
          </a:xfrm>
          <a:prstGeom prst="roundRect">
            <a:avLst/>
          </a:prstGeom>
          <a:solidFill>
            <a:srgbClr val="EEF7F1"/>
          </a:solidFill>
          <a:ln w="12700">
            <a:solidFill>
              <a:srgbClr val="CFE9D8"/>
            </a:solidFill>
            <a:prstDash val="solid"/>
          </a:ln>
        </p:spPr>
        <p:txBody>
          <a:bodyPr/>
          <a:lstStyle/>
          <a:p>
            <a:endParaRPr lang="ja-JP" altLang="en-US"/>
          </a:p>
        </p:txBody>
      </p:sp>
      <p:sp>
        <p:nvSpPr>
          <p:cNvPr id="62" name="Text 57"/>
          <p:cNvSpPr/>
          <p:nvPr/>
        </p:nvSpPr>
        <p:spPr>
          <a:xfrm>
            <a:off x="9948672" y="4270248"/>
            <a:ext cx="1325880" cy="228600"/>
          </a:xfrm>
          <a:prstGeom prst="rect">
            <a:avLst/>
          </a:prstGeom>
          <a:noFill/>
          <a:ln/>
        </p:spPr>
        <p:txBody>
          <a:bodyPr wrap="square" lIns="0" tIns="0" rIns="0" bIns="0" rtlCol="0" anchor="ctr"/>
          <a:lstStyle/>
          <a:p>
            <a:pPr marL="0" indent="0" algn="ctr">
              <a:buNone/>
            </a:pPr>
            <a:r>
              <a:rPr lang="en-US" sz="1300" b="1" dirty="0">
                <a:solidFill>
                  <a:srgbClr val="2E8B57"/>
                </a:solidFill>
              </a:rPr>
              <a:t>Key finding</a:t>
            </a:r>
            <a:endParaRPr lang="en-US" sz="1300" dirty="0"/>
          </a:p>
        </p:txBody>
      </p:sp>
      <p:sp>
        <p:nvSpPr>
          <p:cNvPr id="63" name="Text 58"/>
          <p:cNvSpPr/>
          <p:nvPr/>
        </p:nvSpPr>
        <p:spPr>
          <a:xfrm>
            <a:off x="9902952" y="4681728"/>
            <a:ext cx="1417320" cy="914400"/>
          </a:xfrm>
          <a:prstGeom prst="rect">
            <a:avLst/>
          </a:prstGeom>
          <a:noFill/>
          <a:ln/>
        </p:spPr>
        <p:txBody>
          <a:bodyPr wrap="square" lIns="0" tIns="0" rIns="0" bIns="0" rtlCol="0" anchor="ctr">
            <a:normAutofit/>
          </a:bodyPr>
          <a:lstStyle/>
          <a:p>
            <a:pPr marL="0" indent="0" algn="ctr">
              <a:buNone/>
            </a:pPr>
            <a:r>
              <a:rPr lang="en-US" sz="1120" dirty="0">
                <a:solidFill>
                  <a:srgbClr val="263238"/>
                </a:solidFill>
              </a:rPr>
              <a:t>Changing 6 → 4 min cuts average waiting time by about 52% and reduces the maximum queue by about 26%.</a:t>
            </a:r>
            <a:endParaRPr lang="en-US" sz="1120" dirty="0"/>
          </a:p>
        </p:txBody>
      </p:sp>
      <p:sp>
        <p:nvSpPr>
          <p:cNvPr id="64"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47472"/>
            <a:ext cx="11155680" cy="438912"/>
          </a:xfrm>
          <a:prstGeom prst="rect">
            <a:avLst/>
          </a:prstGeom>
          <a:noFill/>
          <a:ln/>
        </p:spPr>
        <p:txBody>
          <a:bodyPr wrap="square" lIns="0" tIns="0" rIns="0" bIns="0" rtlCol="0" anchor="ctr"/>
          <a:lstStyle/>
          <a:p>
            <a:pPr marL="0" indent="0">
              <a:buNone/>
            </a:pPr>
            <a:r>
              <a:rPr lang="en-US" sz="2500" b="1" dirty="0">
                <a:solidFill>
                  <a:srgbClr val="17324D"/>
                </a:solidFill>
                <a:latin typeface="Aptos Display" pitchFamily="34" charset="0"/>
                <a:ea typeface="Aptos Display" pitchFamily="34" charset="-122"/>
                <a:cs typeface="Aptos Display" pitchFamily="34" charset="-120"/>
              </a:rPr>
              <a:t>7. Conclusion</a:t>
            </a:r>
            <a:endParaRPr lang="en-US" sz="2500" dirty="0"/>
          </a:p>
        </p:txBody>
      </p:sp>
      <p:sp>
        <p:nvSpPr>
          <p:cNvPr id="3" name="Text 1"/>
          <p:cNvSpPr/>
          <p:nvPr/>
        </p:nvSpPr>
        <p:spPr>
          <a:xfrm>
            <a:off x="530352" y="841248"/>
            <a:ext cx="10881360" cy="237744"/>
          </a:xfrm>
          <a:prstGeom prst="rect">
            <a:avLst/>
          </a:prstGeom>
          <a:noFill/>
          <a:ln/>
        </p:spPr>
        <p:txBody>
          <a:bodyPr wrap="square" lIns="0" tIns="0" rIns="0" bIns="0" rtlCol="0" anchor="ctr"/>
          <a:lstStyle/>
          <a:p>
            <a:pPr marL="0" indent="0">
              <a:buNone/>
            </a:pPr>
            <a:r>
              <a:rPr lang="en-US" sz="1150" dirty="0">
                <a:solidFill>
                  <a:srgbClr val="6B7280"/>
                </a:solidFill>
              </a:rPr>
              <a:t>Simulation supports data-driven bus scheduling</a:t>
            </a:r>
            <a:endParaRPr lang="en-US" sz="1150" dirty="0"/>
          </a:p>
        </p:txBody>
      </p:sp>
      <p:sp>
        <p:nvSpPr>
          <p:cNvPr id="4" name="Shape 2"/>
          <p:cNvSpPr/>
          <p:nvPr/>
        </p:nvSpPr>
        <p:spPr>
          <a:xfrm>
            <a:off x="658368" y="1335024"/>
            <a:ext cx="6583680" cy="1024128"/>
          </a:xfrm>
          <a:prstGeom prst="roundRect">
            <a:avLst/>
          </a:prstGeom>
          <a:solidFill>
            <a:srgbClr val="FFFFFF"/>
          </a:solidFill>
          <a:ln w="12700">
            <a:solidFill>
              <a:srgbClr val="D6E2EC"/>
            </a:solidFill>
            <a:prstDash val="solid"/>
          </a:ln>
        </p:spPr>
        <p:txBody>
          <a:bodyPr/>
          <a:lstStyle/>
          <a:p>
            <a:endParaRPr lang="ja-JP" altLang="en-US"/>
          </a:p>
        </p:txBody>
      </p:sp>
      <p:sp>
        <p:nvSpPr>
          <p:cNvPr id="5" name="Shape 3"/>
          <p:cNvSpPr/>
          <p:nvPr/>
        </p:nvSpPr>
        <p:spPr>
          <a:xfrm>
            <a:off x="896112" y="1581912"/>
            <a:ext cx="512064" cy="512064"/>
          </a:xfrm>
          <a:prstGeom prst="ellipse">
            <a:avLst/>
          </a:prstGeom>
          <a:solidFill>
            <a:srgbClr val="2367A7"/>
          </a:solidFill>
          <a:ln w="12700">
            <a:solidFill>
              <a:srgbClr val="2367A7"/>
            </a:solidFill>
            <a:prstDash val="solid"/>
          </a:ln>
        </p:spPr>
        <p:txBody>
          <a:bodyPr/>
          <a:lstStyle/>
          <a:p>
            <a:endParaRPr lang="ja-JP" altLang="en-US"/>
          </a:p>
        </p:txBody>
      </p:sp>
      <p:sp>
        <p:nvSpPr>
          <p:cNvPr id="6" name="Text 4"/>
          <p:cNvSpPr/>
          <p:nvPr/>
        </p:nvSpPr>
        <p:spPr>
          <a:xfrm>
            <a:off x="896112" y="1728216"/>
            <a:ext cx="512064" cy="164592"/>
          </a:xfrm>
          <a:prstGeom prst="rect">
            <a:avLst/>
          </a:prstGeom>
          <a:noFill/>
          <a:ln/>
        </p:spPr>
        <p:txBody>
          <a:bodyPr wrap="square" lIns="0" tIns="0" rIns="0" bIns="0" rtlCol="0" anchor="ctr"/>
          <a:lstStyle/>
          <a:p>
            <a:pPr marL="0" indent="0" algn="ctr">
              <a:buNone/>
            </a:pPr>
            <a:r>
              <a:rPr lang="en-US" sz="1050" b="1" dirty="0">
                <a:solidFill>
                  <a:srgbClr val="FFFFFF"/>
                </a:solidFill>
              </a:rPr>
              <a:t>01</a:t>
            </a:r>
            <a:endParaRPr lang="en-US" sz="1050" dirty="0"/>
          </a:p>
        </p:txBody>
      </p:sp>
      <p:sp>
        <p:nvSpPr>
          <p:cNvPr id="7" name="Text 5"/>
          <p:cNvSpPr/>
          <p:nvPr/>
        </p:nvSpPr>
        <p:spPr>
          <a:xfrm>
            <a:off x="1609344" y="1499616"/>
            <a:ext cx="5285232" cy="274320"/>
          </a:xfrm>
          <a:prstGeom prst="rect">
            <a:avLst/>
          </a:prstGeom>
          <a:noFill/>
          <a:ln/>
        </p:spPr>
        <p:txBody>
          <a:bodyPr wrap="square" lIns="0" tIns="0" rIns="0" bIns="0" rtlCol="0" anchor="ctr"/>
          <a:lstStyle/>
          <a:p>
            <a:pPr marL="0" indent="0">
              <a:buNone/>
            </a:pPr>
            <a:r>
              <a:rPr lang="en-US" sz="1500" b="1" dirty="0">
                <a:solidFill>
                  <a:srgbClr val="17324D"/>
                </a:solidFill>
              </a:rPr>
              <a:t>The queue was reproduced realistically</a:t>
            </a:r>
            <a:endParaRPr lang="en-US" sz="1500" dirty="0"/>
          </a:p>
        </p:txBody>
      </p:sp>
      <p:sp>
        <p:nvSpPr>
          <p:cNvPr id="8" name="Text 6"/>
          <p:cNvSpPr/>
          <p:nvPr/>
        </p:nvSpPr>
        <p:spPr>
          <a:xfrm>
            <a:off x="1609344" y="1856232"/>
            <a:ext cx="5257800" cy="347472"/>
          </a:xfrm>
          <a:prstGeom prst="rect">
            <a:avLst/>
          </a:prstGeom>
          <a:noFill/>
          <a:ln/>
        </p:spPr>
        <p:txBody>
          <a:bodyPr wrap="square" lIns="0" tIns="0" rIns="0" bIns="0" rtlCol="0" anchor="ctr">
            <a:normAutofit/>
          </a:bodyPr>
          <a:lstStyle/>
          <a:p>
            <a:pPr marL="0" indent="0">
              <a:buNone/>
            </a:pPr>
            <a:r>
              <a:rPr lang="en-US" sz="1120" dirty="0">
                <a:solidFill>
                  <a:srgbClr val="6B7280"/>
                </a:solidFill>
              </a:rPr>
              <a:t>Train-based group arrivals, walking choice, FIFO boarding, random bus capacities, and random delays were included.</a:t>
            </a:r>
            <a:endParaRPr lang="en-US" sz="1120" dirty="0"/>
          </a:p>
        </p:txBody>
      </p:sp>
      <p:sp>
        <p:nvSpPr>
          <p:cNvPr id="9" name="Shape 7"/>
          <p:cNvSpPr/>
          <p:nvPr/>
        </p:nvSpPr>
        <p:spPr>
          <a:xfrm>
            <a:off x="658368" y="2642616"/>
            <a:ext cx="6583680" cy="1024128"/>
          </a:xfrm>
          <a:prstGeom prst="roundRect">
            <a:avLst/>
          </a:prstGeom>
          <a:solidFill>
            <a:srgbClr val="FFFFFF"/>
          </a:solidFill>
          <a:ln w="12700">
            <a:solidFill>
              <a:srgbClr val="D6E2EC"/>
            </a:solidFill>
            <a:prstDash val="solid"/>
          </a:ln>
        </p:spPr>
        <p:txBody>
          <a:bodyPr/>
          <a:lstStyle/>
          <a:p>
            <a:endParaRPr lang="ja-JP" altLang="en-US"/>
          </a:p>
        </p:txBody>
      </p:sp>
      <p:sp>
        <p:nvSpPr>
          <p:cNvPr id="10" name="Shape 8"/>
          <p:cNvSpPr/>
          <p:nvPr/>
        </p:nvSpPr>
        <p:spPr>
          <a:xfrm>
            <a:off x="896112" y="2889504"/>
            <a:ext cx="512064" cy="512064"/>
          </a:xfrm>
          <a:prstGeom prst="ellipse">
            <a:avLst/>
          </a:prstGeom>
          <a:solidFill>
            <a:srgbClr val="E07A2D"/>
          </a:solidFill>
          <a:ln w="12700">
            <a:solidFill>
              <a:srgbClr val="E07A2D"/>
            </a:solidFill>
            <a:prstDash val="solid"/>
          </a:ln>
        </p:spPr>
        <p:txBody>
          <a:bodyPr/>
          <a:lstStyle/>
          <a:p>
            <a:endParaRPr lang="ja-JP" altLang="en-US"/>
          </a:p>
        </p:txBody>
      </p:sp>
      <p:sp>
        <p:nvSpPr>
          <p:cNvPr id="11" name="Text 9"/>
          <p:cNvSpPr/>
          <p:nvPr/>
        </p:nvSpPr>
        <p:spPr>
          <a:xfrm>
            <a:off x="896112" y="3035808"/>
            <a:ext cx="512064" cy="164592"/>
          </a:xfrm>
          <a:prstGeom prst="rect">
            <a:avLst/>
          </a:prstGeom>
          <a:noFill/>
          <a:ln/>
        </p:spPr>
        <p:txBody>
          <a:bodyPr wrap="square" lIns="0" tIns="0" rIns="0" bIns="0" rtlCol="0" anchor="ctr"/>
          <a:lstStyle/>
          <a:p>
            <a:pPr marL="0" indent="0" algn="ctr">
              <a:buNone/>
            </a:pPr>
            <a:r>
              <a:rPr lang="en-US" sz="1050" b="1" dirty="0">
                <a:solidFill>
                  <a:srgbClr val="FFFFFF"/>
                </a:solidFill>
              </a:rPr>
              <a:t>02</a:t>
            </a:r>
            <a:endParaRPr lang="en-US" sz="1050" dirty="0"/>
          </a:p>
        </p:txBody>
      </p:sp>
      <p:sp>
        <p:nvSpPr>
          <p:cNvPr id="12" name="Text 10"/>
          <p:cNvSpPr/>
          <p:nvPr/>
        </p:nvSpPr>
        <p:spPr>
          <a:xfrm>
            <a:off x="1609344" y="2807208"/>
            <a:ext cx="5285232" cy="274320"/>
          </a:xfrm>
          <a:prstGeom prst="rect">
            <a:avLst/>
          </a:prstGeom>
          <a:noFill/>
          <a:ln/>
        </p:spPr>
        <p:txBody>
          <a:bodyPr wrap="square" lIns="0" tIns="0" rIns="0" bIns="0" rtlCol="0" anchor="ctr"/>
          <a:lstStyle/>
          <a:p>
            <a:pPr marL="0" indent="0">
              <a:buNone/>
            </a:pPr>
            <a:r>
              <a:rPr lang="en-US" sz="1500" b="1" dirty="0">
                <a:solidFill>
                  <a:srgbClr val="17324D"/>
                </a:solidFill>
              </a:rPr>
              <a:t>Bus interval strongly affects performance</a:t>
            </a:r>
            <a:endParaRPr lang="en-US" sz="1500" dirty="0"/>
          </a:p>
        </p:txBody>
      </p:sp>
      <p:sp>
        <p:nvSpPr>
          <p:cNvPr id="13" name="Text 11"/>
          <p:cNvSpPr/>
          <p:nvPr/>
        </p:nvSpPr>
        <p:spPr>
          <a:xfrm>
            <a:off x="1609344" y="3163824"/>
            <a:ext cx="5257800" cy="347472"/>
          </a:xfrm>
          <a:prstGeom prst="rect">
            <a:avLst/>
          </a:prstGeom>
          <a:noFill/>
          <a:ln/>
        </p:spPr>
        <p:txBody>
          <a:bodyPr wrap="square" lIns="0" tIns="0" rIns="0" bIns="0" rtlCol="0" anchor="ctr">
            <a:normAutofit/>
          </a:bodyPr>
          <a:lstStyle/>
          <a:p>
            <a:pPr marL="0" indent="0">
              <a:buNone/>
            </a:pPr>
            <a:r>
              <a:rPr lang="en-US" sz="1120" dirty="0">
                <a:solidFill>
                  <a:srgbClr val="6B7280"/>
                </a:solidFill>
              </a:rPr>
              <a:t>As the interval increased from 4 to 6 minutes, queue length and waiting time increased clearly.</a:t>
            </a:r>
            <a:endParaRPr lang="en-US" sz="1120" dirty="0"/>
          </a:p>
        </p:txBody>
      </p:sp>
      <p:sp>
        <p:nvSpPr>
          <p:cNvPr id="14" name="Shape 12"/>
          <p:cNvSpPr/>
          <p:nvPr/>
        </p:nvSpPr>
        <p:spPr>
          <a:xfrm>
            <a:off x="658368" y="3950208"/>
            <a:ext cx="6583680" cy="1024128"/>
          </a:xfrm>
          <a:prstGeom prst="roundRect">
            <a:avLst/>
          </a:prstGeom>
          <a:solidFill>
            <a:srgbClr val="FFFFFF"/>
          </a:solidFill>
          <a:ln w="12700">
            <a:solidFill>
              <a:srgbClr val="D6E2EC"/>
            </a:solidFill>
            <a:prstDash val="solid"/>
          </a:ln>
        </p:spPr>
        <p:txBody>
          <a:bodyPr/>
          <a:lstStyle/>
          <a:p>
            <a:endParaRPr lang="ja-JP" altLang="en-US"/>
          </a:p>
        </p:txBody>
      </p:sp>
      <p:sp>
        <p:nvSpPr>
          <p:cNvPr id="15" name="Shape 13"/>
          <p:cNvSpPr/>
          <p:nvPr/>
        </p:nvSpPr>
        <p:spPr>
          <a:xfrm>
            <a:off x="896112" y="4197096"/>
            <a:ext cx="512064" cy="512064"/>
          </a:xfrm>
          <a:prstGeom prst="ellipse">
            <a:avLst/>
          </a:prstGeom>
          <a:solidFill>
            <a:srgbClr val="2E8B57"/>
          </a:solidFill>
          <a:ln w="12700">
            <a:solidFill>
              <a:srgbClr val="2E8B57"/>
            </a:solidFill>
            <a:prstDash val="solid"/>
          </a:ln>
        </p:spPr>
        <p:txBody>
          <a:bodyPr/>
          <a:lstStyle/>
          <a:p>
            <a:endParaRPr lang="ja-JP" altLang="en-US"/>
          </a:p>
        </p:txBody>
      </p:sp>
      <p:sp>
        <p:nvSpPr>
          <p:cNvPr id="16" name="Text 14"/>
          <p:cNvSpPr/>
          <p:nvPr/>
        </p:nvSpPr>
        <p:spPr>
          <a:xfrm>
            <a:off x="896112" y="4343400"/>
            <a:ext cx="512064" cy="164592"/>
          </a:xfrm>
          <a:prstGeom prst="rect">
            <a:avLst/>
          </a:prstGeom>
          <a:noFill/>
          <a:ln/>
        </p:spPr>
        <p:txBody>
          <a:bodyPr wrap="square" lIns="0" tIns="0" rIns="0" bIns="0" rtlCol="0" anchor="ctr"/>
          <a:lstStyle/>
          <a:p>
            <a:pPr marL="0" indent="0" algn="ctr">
              <a:buNone/>
            </a:pPr>
            <a:r>
              <a:rPr lang="en-US" sz="1050" b="1" dirty="0">
                <a:solidFill>
                  <a:srgbClr val="FFFFFF"/>
                </a:solidFill>
              </a:rPr>
              <a:t>03</a:t>
            </a:r>
            <a:endParaRPr lang="en-US" sz="1050" dirty="0"/>
          </a:p>
        </p:txBody>
      </p:sp>
      <p:sp>
        <p:nvSpPr>
          <p:cNvPr id="17" name="Text 15"/>
          <p:cNvSpPr/>
          <p:nvPr/>
        </p:nvSpPr>
        <p:spPr>
          <a:xfrm>
            <a:off x="1609344" y="4114800"/>
            <a:ext cx="5285232" cy="274320"/>
          </a:xfrm>
          <a:prstGeom prst="rect">
            <a:avLst/>
          </a:prstGeom>
          <a:noFill/>
          <a:ln/>
        </p:spPr>
        <p:txBody>
          <a:bodyPr wrap="square" lIns="0" tIns="0" rIns="0" bIns="0" rtlCol="0" anchor="ctr"/>
          <a:lstStyle/>
          <a:p>
            <a:pPr marL="0" indent="0">
              <a:buNone/>
            </a:pPr>
            <a:r>
              <a:rPr lang="en-US" sz="1500" b="1" dirty="0">
                <a:solidFill>
                  <a:srgbClr val="17324D"/>
                </a:solidFill>
              </a:rPr>
              <a:t>Four-minute service performed best</a:t>
            </a:r>
            <a:endParaRPr lang="en-US" sz="1500" dirty="0"/>
          </a:p>
        </p:txBody>
      </p:sp>
      <p:sp>
        <p:nvSpPr>
          <p:cNvPr id="18" name="Text 16"/>
          <p:cNvSpPr/>
          <p:nvPr/>
        </p:nvSpPr>
        <p:spPr>
          <a:xfrm>
            <a:off x="1609344" y="4471416"/>
            <a:ext cx="5257800" cy="347472"/>
          </a:xfrm>
          <a:prstGeom prst="rect">
            <a:avLst/>
          </a:prstGeom>
          <a:noFill/>
          <a:ln/>
        </p:spPr>
        <p:txBody>
          <a:bodyPr wrap="square" lIns="0" tIns="0" rIns="0" bIns="0" rtlCol="0" anchor="ctr">
            <a:normAutofit/>
          </a:bodyPr>
          <a:lstStyle/>
          <a:p>
            <a:pPr marL="0" indent="0">
              <a:buNone/>
            </a:pPr>
            <a:r>
              <a:rPr lang="en-US" sz="1120" dirty="0">
                <a:solidFill>
                  <a:srgbClr val="6B7280"/>
                </a:solidFill>
              </a:rPr>
              <a:t>It transported more students, left fewer students waiting, and produced the shortest average wait among the tested settings.</a:t>
            </a:r>
            <a:endParaRPr lang="en-US" sz="1120" dirty="0"/>
          </a:p>
        </p:txBody>
      </p:sp>
      <p:sp>
        <p:nvSpPr>
          <p:cNvPr id="19" name="Shape 17"/>
          <p:cNvSpPr/>
          <p:nvPr/>
        </p:nvSpPr>
        <p:spPr>
          <a:xfrm>
            <a:off x="7635240" y="1335024"/>
            <a:ext cx="3794760" cy="3657600"/>
          </a:xfrm>
          <a:prstGeom prst="roundRect">
            <a:avLst/>
          </a:prstGeom>
          <a:solidFill>
            <a:srgbClr val="2367A7"/>
          </a:solidFill>
          <a:ln w="12700">
            <a:solidFill>
              <a:srgbClr val="2367A7"/>
            </a:solidFill>
            <a:prstDash val="solid"/>
          </a:ln>
        </p:spPr>
        <p:txBody>
          <a:bodyPr/>
          <a:lstStyle/>
          <a:p>
            <a:endParaRPr lang="ja-JP" altLang="en-US" dirty="0"/>
          </a:p>
        </p:txBody>
      </p:sp>
      <p:sp>
        <p:nvSpPr>
          <p:cNvPr id="20" name="Text 18"/>
          <p:cNvSpPr/>
          <p:nvPr/>
        </p:nvSpPr>
        <p:spPr>
          <a:xfrm>
            <a:off x="8028432" y="2161348"/>
            <a:ext cx="3017520" cy="365760"/>
          </a:xfrm>
          <a:prstGeom prst="rect">
            <a:avLst/>
          </a:prstGeom>
          <a:noFill/>
          <a:ln/>
        </p:spPr>
        <p:txBody>
          <a:bodyPr wrap="square" lIns="0" tIns="0" rIns="0" bIns="0" rtlCol="0" anchor="ctr"/>
          <a:lstStyle/>
          <a:p>
            <a:pPr marL="0" indent="0" algn="ctr">
              <a:buNone/>
            </a:pPr>
            <a:r>
              <a:rPr lang="en-US" sz="1800" b="1" dirty="0">
                <a:solidFill>
                  <a:srgbClr val="FFFFFF"/>
                </a:solidFill>
              </a:rPr>
              <a:t>Final assignment Group-B</a:t>
            </a:r>
            <a:endParaRPr lang="en-US" sz="1800" dirty="0"/>
          </a:p>
        </p:txBody>
      </p:sp>
      <p:sp>
        <p:nvSpPr>
          <p:cNvPr id="21" name="Text 19"/>
          <p:cNvSpPr/>
          <p:nvPr/>
        </p:nvSpPr>
        <p:spPr>
          <a:xfrm>
            <a:off x="8028432" y="2331720"/>
            <a:ext cx="3017520" cy="292608"/>
          </a:xfrm>
          <a:prstGeom prst="rect">
            <a:avLst/>
          </a:prstGeom>
          <a:noFill/>
          <a:ln/>
        </p:spPr>
        <p:txBody>
          <a:bodyPr wrap="square" lIns="0" tIns="0" rIns="0" bIns="0" rtlCol="0" anchor="ctr"/>
          <a:lstStyle/>
          <a:p>
            <a:pPr marL="0" indent="0" algn="ctr">
              <a:buNone/>
            </a:pPr>
            <a:endParaRPr lang="en-US" sz="1400" dirty="0"/>
          </a:p>
        </p:txBody>
      </p:sp>
      <p:sp>
        <p:nvSpPr>
          <p:cNvPr id="22" name="Shape 20"/>
          <p:cNvSpPr/>
          <p:nvPr/>
        </p:nvSpPr>
        <p:spPr>
          <a:xfrm>
            <a:off x="7932162" y="2880360"/>
            <a:ext cx="118872" cy="118872"/>
          </a:xfrm>
          <a:prstGeom prst="ellipse">
            <a:avLst/>
          </a:prstGeom>
          <a:solidFill>
            <a:srgbClr val="FFFFFF"/>
          </a:solidFill>
          <a:ln w="12700">
            <a:solidFill>
              <a:srgbClr val="FFFFFF"/>
            </a:solidFill>
            <a:prstDash val="solid"/>
          </a:ln>
        </p:spPr>
        <p:txBody>
          <a:bodyPr/>
          <a:lstStyle/>
          <a:p>
            <a:endParaRPr lang="ja-JP" altLang="en-US"/>
          </a:p>
        </p:txBody>
      </p:sp>
      <p:sp>
        <p:nvSpPr>
          <p:cNvPr id="23" name="Text 21"/>
          <p:cNvSpPr/>
          <p:nvPr/>
        </p:nvSpPr>
        <p:spPr>
          <a:xfrm>
            <a:off x="8394192" y="2807208"/>
            <a:ext cx="2331720" cy="228600"/>
          </a:xfrm>
          <a:prstGeom prst="rect">
            <a:avLst/>
          </a:prstGeom>
          <a:noFill/>
          <a:ln/>
        </p:spPr>
        <p:txBody>
          <a:bodyPr wrap="square" lIns="0" tIns="0" rIns="0" bIns="0" rtlCol="0" anchor="ctr"/>
          <a:lstStyle/>
          <a:p>
            <a:pPr marL="0" indent="0">
              <a:buNone/>
            </a:pPr>
            <a:endParaRPr lang="en-US" sz="1200" dirty="0"/>
          </a:p>
        </p:txBody>
      </p:sp>
      <p:sp>
        <p:nvSpPr>
          <p:cNvPr id="24" name="Shape 22"/>
          <p:cNvSpPr/>
          <p:nvPr/>
        </p:nvSpPr>
        <p:spPr>
          <a:xfrm>
            <a:off x="7932167" y="3319272"/>
            <a:ext cx="118872" cy="118872"/>
          </a:xfrm>
          <a:prstGeom prst="ellipse">
            <a:avLst/>
          </a:prstGeom>
          <a:solidFill>
            <a:srgbClr val="FFFFFF"/>
          </a:solidFill>
          <a:ln w="12700">
            <a:solidFill>
              <a:srgbClr val="FFFFFF"/>
            </a:solidFill>
            <a:prstDash val="solid"/>
          </a:ln>
        </p:spPr>
        <p:txBody>
          <a:bodyPr/>
          <a:lstStyle/>
          <a:p>
            <a:endParaRPr lang="ja-JP" altLang="en-US"/>
          </a:p>
        </p:txBody>
      </p:sp>
      <p:sp>
        <p:nvSpPr>
          <p:cNvPr id="25" name="Text 23"/>
          <p:cNvSpPr/>
          <p:nvPr/>
        </p:nvSpPr>
        <p:spPr>
          <a:xfrm>
            <a:off x="8394192" y="3246120"/>
            <a:ext cx="2331720" cy="228600"/>
          </a:xfrm>
          <a:prstGeom prst="rect">
            <a:avLst/>
          </a:prstGeom>
          <a:noFill/>
          <a:ln/>
        </p:spPr>
        <p:txBody>
          <a:bodyPr wrap="square" lIns="0" tIns="0" rIns="0" bIns="0" rtlCol="0" anchor="ctr"/>
          <a:lstStyle/>
          <a:p>
            <a:pPr marL="0" indent="0">
              <a:buNone/>
            </a:pPr>
            <a:endParaRPr lang="en-US" sz="1200" dirty="0"/>
          </a:p>
        </p:txBody>
      </p:sp>
      <p:sp>
        <p:nvSpPr>
          <p:cNvPr id="26" name="Shape 24"/>
          <p:cNvSpPr/>
          <p:nvPr/>
        </p:nvSpPr>
        <p:spPr>
          <a:xfrm>
            <a:off x="7932160" y="3758184"/>
            <a:ext cx="118872" cy="118872"/>
          </a:xfrm>
          <a:prstGeom prst="ellipse">
            <a:avLst/>
          </a:prstGeom>
          <a:solidFill>
            <a:srgbClr val="FFFFFF"/>
          </a:solidFill>
          <a:ln w="12700">
            <a:solidFill>
              <a:srgbClr val="FFFFFF"/>
            </a:solidFill>
            <a:prstDash val="solid"/>
          </a:ln>
        </p:spPr>
        <p:txBody>
          <a:bodyPr/>
          <a:lstStyle/>
          <a:p>
            <a:endParaRPr lang="ja-JP" altLang="en-US"/>
          </a:p>
        </p:txBody>
      </p:sp>
      <p:sp>
        <p:nvSpPr>
          <p:cNvPr id="27" name="Text 25"/>
          <p:cNvSpPr/>
          <p:nvPr/>
        </p:nvSpPr>
        <p:spPr>
          <a:xfrm>
            <a:off x="8394192" y="3685032"/>
            <a:ext cx="2331720" cy="228600"/>
          </a:xfrm>
          <a:prstGeom prst="rect">
            <a:avLst/>
          </a:prstGeom>
          <a:noFill/>
          <a:ln/>
        </p:spPr>
        <p:txBody>
          <a:bodyPr wrap="square" lIns="0" tIns="0" rIns="0" bIns="0" rtlCol="0" anchor="ctr"/>
          <a:lstStyle/>
          <a:p>
            <a:pPr marL="0" indent="0">
              <a:buNone/>
            </a:pPr>
            <a:endParaRPr lang="en-US" sz="1200" dirty="0"/>
          </a:p>
        </p:txBody>
      </p:sp>
      <p:sp>
        <p:nvSpPr>
          <p:cNvPr id="29" name="Text 27"/>
          <p:cNvSpPr/>
          <p:nvPr/>
        </p:nvSpPr>
        <p:spPr>
          <a:xfrm>
            <a:off x="8394192" y="4123944"/>
            <a:ext cx="2331720" cy="228600"/>
          </a:xfrm>
          <a:prstGeom prst="rect">
            <a:avLst/>
          </a:prstGeom>
          <a:noFill/>
          <a:ln/>
        </p:spPr>
        <p:txBody>
          <a:bodyPr wrap="square" lIns="0" tIns="0" rIns="0" bIns="0" rtlCol="0" anchor="ctr"/>
          <a:lstStyle/>
          <a:p>
            <a:pPr marL="0" indent="0">
              <a:buNone/>
            </a:pPr>
            <a:endParaRPr lang="en-US" sz="1200" dirty="0"/>
          </a:p>
        </p:txBody>
      </p:sp>
      <p:sp>
        <p:nvSpPr>
          <p:cNvPr id="30" name="Text 28"/>
          <p:cNvSpPr/>
          <p:nvPr/>
        </p:nvSpPr>
        <p:spPr>
          <a:xfrm>
            <a:off x="7955280" y="5321808"/>
            <a:ext cx="3154680" cy="502920"/>
          </a:xfrm>
          <a:prstGeom prst="rect">
            <a:avLst/>
          </a:prstGeom>
          <a:noFill/>
          <a:ln/>
        </p:spPr>
        <p:txBody>
          <a:bodyPr wrap="square" lIns="0" tIns="0" rIns="0" bIns="0" rtlCol="0" anchor="ctr"/>
          <a:lstStyle/>
          <a:p>
            <a:pPr marL="0" indent="0" algn="ctr">
              <a:buNone/>
            </a:pPr>
            <a:endParaRPr lang="en-US" sz="1250" dirty="0"/>
          </a:p>
        </p:txBody>
      </p:sp>
      <p:sp>
        <p:nvSpPr>
          <p:cNvPr id="31" name="Slide Number Placeholder 0"/>
          <p:cNvSpPr>
            <a:spLocks noGrp="1"/>
          </p:cNvSpPr>
          <p:nvPr>
            <p:ph type="sldNum" sz="quarter" idx="4294967295"/>
          </p:nvPr>
        </p:nvSpPr>
        <p:spPr>
          <a:xfrm>
            <a:off x="11777472"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Aptos"/>
                <a:ea typeface="Aptos"/>
                <a:cs typeface="Aptos"/>
              </a:defRPr>
            </a:lvl1pPr>
          </a:lstStyle>
          <a:p>
            <a:pPr algn="l"/>
            <a:fld id="{F7021451-1387-4CA6-816F-3879F97B5CBC}" type="slidenum">
              <a:rPr lang="en-US" b="0"/>
              <a:t>8</a:t>
            </a:fld>
            <a:endParaRPr lang="en-US"/>
          </a:p>
        </p:txBody>
      </p:sp>
      <p:sp>
        <p:nvSpPr>
          <p:cNvPr id="33" name="Text 18">
            <a:extLst>
              <a:ext uri="{FF2B5EF4-FFF2-40B4-BE49-F238E27FC236}">
                <a16:creationId xmlns:a16="http://schemas.microsoft.com/office/drawing/2014/main" id="{7E4D6B18-56AB-433C-1E8C-512A044F345A}"/>
              </a:ext>
            </a:extLst>
          </p:cNvPr>
          <p:cNvSpPr/>
          <p:nvPr/>
        </p:nvSpPr>
        <p:spPr>
          <a:xfrm>
            <a:off x="8215884" y="2770632"/>
            <a:ext cx="3017520" cy="365760"/>
          </a:xfrm>
          <a:prstGeom prst="rect">
            <a:avLst/>
          </a:prstGeom>
          <a:noFill/>
          <a:ln/>
        </p:spPr>
        <p:txBody>
          <a:bodyPr wrap="square" lIns="0" tIns="0" rIns="0" bIns="0" rtlCol="0" anchor="ctr"/>
          <a:lstStyle/>
          <a:p>
            <a:pPr marL="0" indent="0" algn="ctr">
              <a:buNone/>
            </a:pPr>
            <a:endParaRPr lang="en-US" sz="1800" dirty="0"/>
          </a:p>
        </p:txBody>
      </p:sp>
      <p:sp>
        <p:nvSpPr>
          <p:cNvPr id="35" name="Text 18">
            <a:extLst>
              <a:ext uri="{FF2B5EF4-FFF2-40B4-BE49-F238E27FC236}">
                <a16:creationId xmlns:a16="http://schemas.microsoft.com/office/drawing/2014/main" id="{CE283C94-2C53-6471-D00A-4050A87FD314}"/>
              </a:ext>
            </a:extLst>
          </p:cNvPr>
          <p:cNvSpPr/>
          <p:nvPr/>
        </p:nvSpPr>
        <p:spPr>
          <a:xfrm>
            <a:off x="8215884" y="2743200"/>
            <a:ext cx="3195828" cy="365760"/>
          </a:xfrm>
          <a:prstGeom prst="rect">
            <a:avLst/>
          </a:prstGeom>
          <a:noFill/>
          <a:ln/>
        </p:spPr>
        <p:txBody>
          <a:bodyPr wrap="square" lIns="0" tIns="0" rIns="0" bIns="0" rtlCol="0" anchor="ctr"/>
          <a:lstStyle/>
          <a:p>
            <a:pPr algn="ctr"/>
            <a:r>
              <a:rPr lang="ja-JP" altLang="ja-JP" b="1" dirty="0">
                <a:solidFill>
                  <a:schemeClr val="bg1"/>
                </a:solidFill>
              </a:rPr>
              <a:t>BRUNO ZOMIGNANI PERCIANI</a:t>
            </a:r>
            <a:endParaRPr lang="en-US" sz="1800" b="1" dirty="0">
              <a:solidFill>
                <a:schemeClr val="bg1"/>
              </a:solidFill>
            </a:endParaRPr>
          </a:p>
        </p:txBody>
      </p:sp>
      <p:sp>
        <p:nvSpPr>
          <p:cNvPr id="37" name="Text 18">
            <a:extLst>
              <a:ext uri="{FF2B5EF4-FFF2-40B4-BE49-F238E27FC236}">
                <a16:creationId xmlns:a16="http://schemas.microsoft.com/office/drawing/2014/main" id="{3594FFB1-3008-D372-DF67-4F40D9BE7180}"/>
              </a:ext>
            </a:extLst>
          </p:cNvPr>
          <p:cNvSpPr/>
          <p:nvPr/>
        </p:nvSpPr>
        <p:spPr>
          <a:xfrm>
            <a:off x="8259014" y="3218688"/>
            <a:ext cx="3017520" cy="365760"/>
          </a:xfrm>
          <a:prstGeom prst="rect">
            <a:avLst/>
          </a:prstGeom>
          <a:noFill/>
          <a:ln/>
        </p:spPr>
        <p:txBody>
          <a:bodyPr wrap="square" lIns="0" tIns="0" rIns="0" bIns="0" rtlCol="0" anchor="ctr"/>
          <a:lstStyle/>
          <a:p>
            <a:pPr marL="0" indent="0">
              <a:buNone/>
            </a:pPr>
            <a:r>
              <a:rPr lang="en-US" sz="1800" b="1" dirty="0">
                <a:solidFill>
                  <a:schemeClr val="bg1"/>
                </a:solidFill>
              </a:rPr>
              <a:t>AOI TSUNEOKA</a:t>
            </a:r>
          </a:p>
        </p:txBody>
      </p:sp>
      <p:sp>
        <p:nvSpPr>
          <p:cNvPr id="39" name="Text 18">
            <a:extLst>
              <a:ext uri="{FF2B5EF4-FFF2-40B4-BE49-F238E27FC236}">
                <a16:creationId xmlns:a16="http://schemas.microsoft.com/office/drawing/2014/main" id="{057F5A9A-8503-3500-5738-4FCD11241452}"/>
              </a:ext>
            </a:extLst>
          </p:cNvPr>
          <p:cNvSpPr/>
          <p:nvPr/>
        </p:nvSpPr>
        <p:spPr>
          <a:xfrm>
            <a:off x="8250388" y="3674334"/>
            <a:ext cx="3017520" cy="365760"/>
          </a:xfrm>
          <a:prstGeom prst="rect">
            <a:avLst/>
          </a:prstGeom>
          <a:noFill/>
          <a:ln/>
        </p:spPr>
        <p:txBody>
          <a:bodyPr wrap="square" lIns="0" tIns="0" rIns="0" bIns="0" rtlCol="0" anchor="ctr"/>
          <a:lstStyle/>
          <a:p>
            <a:pPr marL="0" indent="0">
              <a:buNone/>
            </a:pPr>
            <a:r>
              <a:rPr lang="en-US" sz="1800" b="1" dirty="0">
                <a:solidFill>
                  <a:schemeClr val="bg1"/>
                </a:solidFill>
              </a:rPr>
              <a:t>RIN WAKAMATSU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C3733E5F981E324A95BFE7A1B5D5D946" ma:contentTypeVersion="3" ma:contentTypeDescription="新しいドキュメントを作成します。" ma:contentTypeScope="" ma:versionID="d3f9b72e0fdac5316e9f32f61508a0bc">
  <xsd:schema xmlns:xsd="http://www.w3.org/2001/XMLSchema" xmlns:xs="http://www.w3.org/2001/XMLSchema" xmlns:p="http://schemas.microsoft.com/office/2006/metadata/properties" xmlns:ns2="1cb75b3b-8f4d-45c6-bdc3-36a31b2a12aa" targetNamespace="http://schemas.microsoft.com/office/2006/metadata/properties" ma:root="true" ma:fieldsID="1b33ffd21e3744278be634503e8c0ea5" ns2:_="">
    <xsd:import namespace="1cb75b3b-8f4d-45c6-bdc3-36a31b2a12a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b75b3b-8f4d-45c6-bdc3-36a31b2a12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0D9A00C-4F00-4B6C-A662-D35E5FE935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b75b3b-8f4d-45c6-bdc3-36a31b2a12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6E27C6F-1A20-41FD-B9A2-DA9CB23A66D1}">
  <ds:schemaRefs>
    <ds:schemaRef ds:uri="http://schemas.microsoft.com/sharepoint/v3/contenttype/forms"/>
  </ds:schemaRefs>
</ds:datastoreItem>
</file>

<file path=customXml/itemProps3.xml><?xml version="1.0" encoding="utf-8"?>
<ds:datastoreItem xmlns:ds="http://schemas.openxmlformats.org/officeDocument/2006/customXml" ds:itemID="{34E7B8EC-0C57-40C8-9DAB-7071C87D7C3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24</TotalTime>
  <Words>1516</Words>
  <Application>Microsoft Office PowerPoint</Application>
  <PresentationFormat>ワイド画面</PresentationFormat>
  <Paragraphs>213</Paragraphs>
  <Slides>8</Slides>
  <Notes>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8</vt:i4>
      </vt:variant>
    </vt:vector>
  </HeadingPairs>
  <TitlesOfParts>
    <vt:vector size="15" baseType="lpstr">
      <vt:lpstr>游ゴシック</vt:lpstr>
      <vt:lpstr>Aptos</vt:lpstr>
      <vt:lpstr>Aptos Display</vt:lpstr>
      <vt:lpstr>Arial</vt:lpstr>
      <vt:lpstr>Cambria</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Shuttle Bus Queue Simulation</dc:title>
  <dc:subject>Campus Shuttle Bus Queue Simulation</dc:subject>
  <dc:creator>OpenAI</dc:creator>
  <cp:lastModifiedBy>BRUNO ZOMIGNANI PERCIANI</cp:lastModifiedBy>
  <cp:revision>78</cp:revision>
  <dcterms:created xsi:type="dcterms:W3CDTF">2026-07-22T14:33:21Z</dcterms:created>
  <dcterms:modified xsi:type="dcterms:W3CDTF">2026-07-23T00:17:49Z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0x010100C3733E5F981E324A95BFE7A1B5D5D946</vt:lpwstr>
  </property>
</Properties>
</file>